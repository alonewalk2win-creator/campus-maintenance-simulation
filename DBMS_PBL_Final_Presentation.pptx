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e469624-61e9-f59c-0dd9-7f18151c17bf}">
          <p14:sldIdLst>
            <p14:sldId id="256"/>
            <p14:sldId id="257"/>
            <p14:sldId id="258"/>
          </p14:sldIdLst>
        </p14:section>
        <p14:section name="Design" id="{de6b65bb-2033-f693-c104-b0e4ac2c2e78}">
          <p14:sldIdLst>
            <p14:sldId id="259"/>
            <p14:sldId id="260"/>
            <p14:sldId id="261"/>
            <p14:sldId id="262"/>
            <p14:sldId id="263"/>
          </p14:sldIdLst>
        </p14:section>
        <p14:section name="Application" id="{a8cd2604-7665-0a5b-5172-3911819fcd8c}">
          <p14:sldIdLst>
            <p14:sldId id="264"/>
            <p14:sldId id="265"/>
            <p14:sldId id="266"/>
          </p14:sldIdLst>
        </p14:section>
        <p14:section name="Results" id="{ce9cee28-5ec9-e38f-16e9-2d5052dde52c}">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7222B"/>
                </a:solidFill>
                <a:latin typeface="+mn-lt"/>
              </a:defRPr>
            </a:pPr>
            <a:r>
              <a:rPr sz="1400" b="0" i="0" u="none" strike="noStrike">
                <a:solidFill>
                  <a:srgbClr val="17222B"/>
                </a:solidFill>
                <a:latin typeface="+mn-lt"/>
              </a:rPr>
              <a:t>Maintenance cost by building (Rs.)</a:t>
            </a:r>
          </a:p>
        </c:rich>
      </c:tx>
      <c:layout/>
      <c:overlay val="0"/>
    </c:title>
    <c:autoTitleDeleted val="0"/>
    <c:plotArea>
      <c:layout/>
      <c:barChart>
        <c:barDir val="bar"/>
        <c:grouping val="clustered"/>
        <c:varyColors val="0"/>
        <c:ser>
          <c:idx val="0"/>
          <c:order val="0"/>
          <c:tx>
            <c:strRef>
              <c:f>Sheet1!$B$1</c:f>
              <c:strCache>
                <c:ptCount val="1"/>
                <c:pt idx="0">
                  <c:v>Total cost (Rs.)</c:v>
                </c:pt>
              </c:strCache>
            </c:strRef>
          </c:tx>
          <c:spPr>
            <a:solidFill>
              <a:srgbClr val="0F4C5C"/>
            </a:solidFill>
            <a:effectLst/>
          </c:spPr>
          <c:invertIfNegative val="0"/>
          <c:dLbls>
            <c:numFmt formatCode="#,##0" sourceLinked="0"/>
            <c:txPr>
              <a:bodyPr/>
              <a:lstStyle/>
              <a:p>
                <a:pPr>
                  <a:defRPr b="0" i="0" strike="noStrike" sz="1000" u="none">
                    <a:solidFill>
                      <a:srgbClr val="17222B"/>
                    </a:solidFill>
                    <a:latin typeface="+mn-lt"/>
                  </a:defRPr>
                </a:pPr>
              </a:p>
            </c:txPr>
            <c:showLegendKey val="0"/>
            <c:showVal val="1"/>
            <c:showCatName val="0"/>
            <c:showSerName val="0"/>
            <c:showPercent val="0"/>
            <c:showBubbleSize val="0"/>
            <c:showLeaderLines val="0"/>
          </c:dLbls>
          <c:cat>
            <c:multiLvlStrRef>
              <c:f>Sheet1!$A$2:$A$6</c:f>
              <c:multiLvlStrCache>
                <c:ptCount val="5"/>
                <c:lvl>
                  <c:pt idx="0">
                    <c:v>Science &amp; Lab</c:v>
                  </c:pt>
                  <c:pt idx="1">
                    <c:v>Administration</c:v>
                  </c:pt>
                  <c:pt idx="2">
                    <c:v>Central Library</c:v>
                  </c:pt>
                  <c:pt idx="3">
                    <c:v>Boys Hostel</c:v>
                  </c:pt>
                  <c:pt idx="4">
                    <c:v>Academic A</c:v>
                  </c:pt>
                </c:lvl>
              </c:multiLvlStrCache>
            </c:multiLvlStrRef>
          </c:cat>
          <c:val>
            <c:numRef>
              <c:f>Sheet1!$B$2:$B$6</c:f>
              <c:numCache>
                <c:formatCode>General</c:formatCode>
                <c:ptCount val="5"/>
                <c:pt idx="0">
                  <c:v>18484</c:v>
                </c:pt>
                <c:pt idx="1">
                  <c:v>16596</c:v>
                </c:pt>
                <c:pt idx="2">
                  <c:v>10512</c:v>
                </c:pt>
                <c:pt idx="3">
                  <c:v>9213</c:v>
                </c:pt>
                <c:pt idx="4">
                  <c:v>2839</c:v>
                </c:pt>
              </c:numCache>
            </c:numRef>
          </c:val>
        </c:ser>
        <c:dLbls>
          <c:numFmt formatCode="#,##0" sourceLinked="0"/>
          <c:txPr>
            <a:bodyPr/>
            <a:lstStyle/>
            <a:p>
              <a:pPr>
                <a:defRPr b="0" i="0" strike="noStrike" sz="1000" u="none">
                  <a:solidFill>
                    <a:srgbClr val="1722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4727F"/>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FE5EA"/>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27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7222B"/>
                </a:solidFill>
                <a:latin typeface="+mn-lt"/>
              </a:defRPr>
            </a:pPr>
            <a:r>
              <a:rPr sz="1400" b="0" i="0" u="none" strike="noStrike">
                <a:solidFill>
                  <a:srgbClr val="17222B"/>
                </a:solidFill>
                <a:latin typeface="+mn-lt"/>
              </a:rPr>
              <a:t>Technician load vs capacity</a:t>
            </a:r>
          </a:p>
        </c:rich>
      </c:tx>
      <c:layout/>
      <c:overlay val="0"/>
    </c:title>
    <c:autoTitleDeleted val="0"/>
    <c:plotArea>
      <c:layout/>
      <c:barChart>
        <c:barDir val="col"/>
        <c:grouping val="clustered"/>
        <c:varyColors val="0"/>
        <c:ser>
          <c:idx val="0"/>
          <c:order val="0"/>
          <c:tx>
            <c:strRef>
              <c:f>Sheet1!$B$1</c:f>
              <c:strCache>
                <c:ptCount val="1"/>
                <c:pt idx="0">
                  <c:v>Active jobs</c:v>
                </c:pt>
              </c:strCache>
            </c:strRef>
          </c:tx>
          <c:spPr>
            <a:solidFill>
              <a:srgbClr val="E36414"/>
            </a:solidFill>
            <a:effectLst/>
          </c:spPr>
          <c:invertIfNegative val="0"/>
          <c:dLbls>
            <c:numFmt formatCode="#,##0" sourceLinked="0"/>
            <c:txPr>
              <a:bodyPr/>
              <a:lstStyle/>
              <a:p>
                <a:pPr>
                  <a:defRPr b="0" i="0" strike="noStrike" sz="1000" u="none">
                    <a:solidFill>
                      <a:srgbClr val="17222B"/>
                    </a:solidFill>
                    <a:latin typeface="+mn-lt"/>
                  </a:defRPr>
                </a:pPr>
              </a:p>
            </c:txPr>
            <c:showLegendKey val="0"/>
            <c:showVal val="1"/>
            <c:showCatName val="0"/>
            <c:showSerName val="0"/>
            <c:showPercent val="0"/>
            <c:showBubbleSize val="0"/>
            <c:showLeaderLines val="0"/>
          </c:dLbls>
          <c:cat>
            <c:multiLvlStrRef>
              <c:f>Sheet1!$A$2:$A$9</c:f>
              <c:multiLvlStrCache>
                <c:ptCount val="8"/>
                <c:lvl>
                  <c:pt idx="0">
                    <c:v>Gopal</c:v>
                  </c:pt>
                  <c:pt idx="1">
                    <c:v>Anita</c:v>
                  </c:pt>
                  <c:pt idx="2">
                    <c:v>Iqbal</c:v>
                  </c:pt>
                  <c:pt idx="3">
                    <c:v>Mahesh</c:v>
                  </c:pt>
                  <c:pt idx="4">
                    <c:v>Bhaskar</c:v>
                  </c:pt>
                  <c:pt idx="5">
                    <c:v>Praveen</c:v>
                  </c:pt>
                  <c:pt idx="6">
                    <c:v>Ramesh</c:v>
                  </c:pt>
                  <c:pt idx="7">
                    <c:v>Sanjay</c:v>
                  </c:pt>
                </c:lvl>
              </c:multiLvlStrCache>
            </c:multiLvlStrRef>
          </c:cat>
          <c:val>
            <c:numRef>
              <c:f>Sheet1!$B$2:$B$9</c:f>
              <c:numCache>
                <c:formatCode>General</c:formatCode>
                <c:ptCount val="8"/>
                <c:pt idx="0">
                  <c:v>3</c:v>
                </c:pt>
                <c:pt idx="1">
                  <c:v>2</c:v>
                </c:pt>
                <c:pt idx="2">
                  <c:v>2</c:v>
                </c:pt>
                <c:pt idx="3">
                  <c:v>2</c:v>
                </c:pt>
                <c:pt idx="4">
                  <c:v>1</c:v>
                </c:pt>
                <c:pt idx="5">
                  <c:v>1</c:v>
                </c:pt>
                <c:pt idx="6">
                  <c:v>1</c:v>
                </c:pt>
                <c:pt idx="7">
                  <c:v>0</c:v>
                </c:pt>
              </c:numCache>
            </c:numRef>
          </c:val>
        </c:ser>
        <c:ser>
          <c:idx val="1"/>
          <c:order val="1"/>
          <c:tx>
            <c:strRef>
              <c:f>Sheet1!$C$1</c:f>
              <c:strCache>
                <c:ptCount val="1"/>
                <c:pt idx="0">
                  <c:v>Max allowed</c:v>
                </c:pt>
              </c:strCache>
            </c:strRef>
          </c:tx>
          <c:spPr>
            <a:solidFill>
              <a:srgbClr val="B8C4CC"/>
            </a:solidFill>
            <a:effectLst/>
          </c:spPr>
          <c:invertIfNegative val="0"/>
          <c:dLbls>
            <c:numFmt formatCode="#,##0" sourceLinked="0"/>
            <c:txPr>
              <a:bodyPr/>
              <a:lstStyle/>
              <a:p>
                <a:pPr>
                  <a:defRPr b="0" i="0" strike="noStrike" sz="1000" u="none">
                    <a:solidFill>
                      <a:srgbClr val="17222B"/>
                    </a:solidFill>
                    <a:latin typeface="+mn-lt"/>
                  </a:defRPr>
                </a:pPr>
              </a:p>
            </c:txPr>
            <c:showLegendKey val="0"/>
            <c:showVal val="1"/>
            <c:showCatName val="0"/>
            <c:showSerName val="0"/>
            <c:showPercent val="0"/>
            <c:showBubbleSize val="0"/>
            <c:showLeaderLines val="0"/>
          </c:dLbls>
          <c:cat>
            <c:multiLvlStrRef>
              <c:f>Sheet1!$A$2:$A$9</c:f>
              <c:multiLvlStrCache>
                <c:ptCount val="8"/>
                <c:lvl>
                  <c:pt idx="0">
                    <c:v>Gopal</c:v>
                  </c:pt>
                  <c:pt idx="1">
                    <c:v>Anita</c:v>
                  </c:pt>
                  <c:pt idx="2">
                    <c:v>Iqbal</c:v>
                  </c:pt>
                  <c:pt idx="3">
                    <c:v>Mahesh</c:v>
                  </c:pt>
                  <c:pt idx="4">
                    <c:v>Bhaskar</c:v>
                  </c:pt>
                  <c:pt idx="5">
                    <c:v>Praveen</c:v>
                  </c:pt>
                  <c:pt idx="6">
                    <c:v>Ramesh</c:v>
                  </c:pt>
                  <c:pt idx="7">
                    <c:v>Sanjay</c:v>
                  </c:pt>
                </c:lvl>
              </c:multiLvlStrCache>
            </c:multiLvlStrRef>
          </c:cat>
          <c:val>
            <c:numRef>
              <c:f>Sheet1!$C$2:$C$9</c:f>
              <c:numCache>
                <c:formatCode>General</c:formatCode>
                <c:ptCount val="8"/>
                <c:pt idx="0">
                  <c:v>5</c:v>
                </c:pt>
                <c:pt idx="1">
                  <c:v>4</c:v>
                </c:pt>
                <c:pt idx="2">
                  <c:v>3</c:v>
                </c:pt>
                <c:pt idx="3">
                  <c:v>4</c:v>
                </c:pt>
                <c:pt idx="4">
                  <c:v>4</c:v>
                </c:pt>
                <c:pt idx="5">
                  <c:v>3</c:v>
                </c:pt>
                <c:pt idx="6">
                  <c:v>4</c:v>
                </c:pt>
                <c:pt idx="7">
                  <c:v>4</c:v>
                </c:pt>
              </c:numCache>
            </c:numRef>
          </c:val>
        </c:ser>
        <c:dLbls>
          <c:numFmt formatCode="#,##0" sourceLinked="0"/>
          <c:txPr>
            <a:bodyPr/>
            <a:lstStyle/>
            <a:p>
              <a:pPr>
                <a:defRPr b="0" i="0" strike="noStrike" sz="1000" u="none">
                  <a:solidFill>
                    <a:srgbClr val="1722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4727F"/>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FE5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27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4727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relational database plus a small Python application for managing campus maintenance complaints end to end. Mention that placeholders on this slide must be replaced with your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problem: complaints arrive by phone and paper registers. Nobody can see what is pending, who is overloaded, how long requests wait, or what each building costs. The database makes those answers a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measurable objectives; all were met. Out-of-scope items are listed as future work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The browser sends requests to Flask, which validates input and runs parameterised SQL in transactions. SQLite enforces constraints and triggers, so even another program cannot break the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request is the central entity. Assignment, work log, materials, costs, status history and feedback record what happens to it. The diagram was generated from the implemented schema so it matches the database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one un-normalised register. 1NF moves repeating groups out, 2NF removes partial dependencies, 3NF removes transitive ones such as request to room to building. All 16 relations also satisfy BCNF.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rule uses the right mechanism: UNIQUE, CHECK, a transition table with a trigger, and a trigger plus partial unique index for assignment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allowed transitions are stored as data. The UI offers only valid next statuses and the trigger rejects anything else even when SQL is run directly. Terminal states are Closed and Cancelled.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computed from the database on every load: totals, pending count, average response time against SLA, average feedback, status distribution and technician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work log, materials, extra costs and status history on one page. All actions are parameterised INSERT or UPDATE statements in a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 technician at maximum capacity cannot be given another job. Right: a Resolved request cannot be closed without closure remarks. Both messages come from database triggers and constraints, mapped to friendly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building-wise maintenance cost from the v_building_cost view. Right: active jobs per technician against capacity from v_technician_load. Other reports: pending, ageing, response time and SLA, material use,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test runs on a freshly built database copy. Tests mix positive cases and negative cases that must be rejected. Results shown in the report are the observed output of the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database enforces the rules, the app uses it through parameterised queries and transactions, and all tests pass.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4C5C"/>
        </a:solidFill>
      </p:bgPr>
    </p:bg>
    <p:spTree>
      <p:nvGrpSpPr>
        <p:cNvPr id="1" name=""/>
        <p:cNvGrpSpPr/>
        <p:nvPr/>
      </p:nvGrpSpPr>
      <p:grpSpPr>
        <a:xfrm>
          <a:off x="0" y="0"/>
          <a:ext cx="0" cy="0"/>
          <a:chOff x="0" y="0"/>
          <a:chExt cx="0" cy="0"/>
        </a:xfrm>
      </p:grpSpPr>
      <p:sp>
        <p:nvSpPr>
          <p:cNvPr id="2" name="Text 0"/>
          <p:cNvSpPr txBox="1"/>
          <p:nvPr>
            <p:ph idx="100" type="title" hasCustomPrompt="1"/>
          </p:nvPr>
        </p:nvSpPr>
        <p:spPr>
          <a:xfrm>
            <a:off x="640080" y="1371600"/>
            <a:ext cx="7863840" cy="14630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txBox="1"/>
          <p:nvPr>
            <p:ph idx="101" type="body" hasCustomPrompt="1"/>
          </p:nvPr>
        </p:nvSpPr>
        <p:spPr>
          <a:xfrm>
            <a:off x="640080" y="3017520"/>
            <a:ext cx="7863840" cy="914400"/>
          </a:xfrm>
          <a:prstGeom prst="rect">
            <a:avLst/>
          </a:prstGeom>
          <a:noFill/>
          <a:ln/>
        </p:spPr>
        <p:txBody>
          <a:bodyPr wrap="square" rtlCol="0"/>
          <a:lstStyle>
            <a:lvl1pPr algn="l" indent="0" marL="0">
              <a:buNone/>
              <a:defRPr lang="en-US" sz="1600" dirty="0">
                <a:solidFill>
                  <a:srgbClr val="CFE3E8"/>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ph idx="100" type="title" hasCustomPrompt="1"/>
          </p:nvPr>
        </p:nvSpPr>
        <p:spPr>
          <a:xfrm>
            <a:off x="457200" y="274320"/>
            <a:ext cx="8229600" cy="6400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27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27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ph idx="100" type="title" hasCustomPrompt="1"/>
          </p:nvPr>
        </p:nvSpPr>
        <p:spPr>
          <a:xfrm>
            <a:off x="640080" y="1371600"/>
            <a:ext cx="7863840" cy="1463040"/>
          </a:xfrm>
          <a:prstGeom prst="rect">
            <a:avLst/>
          </a:prstGeom>
          <a:noFill/>
          <a:ln/>
        </p:spPr>
        <p:txBody>
          <a:bodyPr wrap="square" rtlCol="0" anchor="b"/>
          <a:lstStyle/>
          <a:p>
            <a:pPr algn="l" indent="0" marL="0">
              <a:buNone/>
            </a:pPr>
            <a:r>
              <a:rPr lang="en-US" sz="3800" b="1" dirty="0">
                <a:solidFill>
                  <a:schemeClr val="bg1"/>
                </a:solidFill>
              </a:rPr>
              <a:t>Campus Facility Maintenance Request Management System</a:t>
            </a:r>
            <a:endParaRPr lang="en-US" sz="3800" dirty="0"/>
          </a:p>
        </p:txBody>
      </p:sp>
      <p:sp>
        <p:nvSpPr>
          <p:cNvPr id="3" name="Text 0"/>
          <p:cNvSpPr txBox="1"/>
          <p:nvPr>
            <p:ph idx="101" type="body" hasCustomPrompt="1"/>
          </p:nvPr>
        </p:nvSpPr>
        <p:spPr>
          <a:xfrm>
            <a:off x="640080" y="3017520"/>
            <a:ext cx="7863840" cy="914400"/>
          </a:xfrm>
          <a:prstGeom prst="rect">
            <a:avLst/>
          </a:prstGeom>
          <a:noFill/>
          <a:ln/>
        </p:spPr>
        <p:txBody>
          <a:bodyPr wrap="square" rtlCol="0" anchor="t"/>
          <a:lstStyle/>
          <a:p>
            <a:pPr algn="l" indent="0" marL="0">
              <a:buNone/>
            </a:pPr>
            <a:r>
              <a:rPr lang="en-US" sz="1600" dirty="0">
                <a:solidFill>
                  <a:srgbClr val="CFE3E8"/>
                </a:solidFill>
              </a:rPr>
              <a:t>Database Management Systems – Project-Based Learning (Final Presentation)</a:t>
            </a:r>
            <a:endParaRPr lang="en-US" sz="1600" dirty="0"/>
          </a:p>
          <a:p>
            <a:pPr algn="l" indent="0" marL="0">
              <a:buNone/>
            </a:pPr>
            <a:r>
              <a:rPr lang="en-US" sz="1600" dirty="0">
                <a:solidFill>
                  <a:srgbClr val="CFE3E8"/>
                </a:solidFill>
              </a:rPr>
              <a:t>[Student Name]  |  [Roll No.]  |  [Program / Section]  |  Faculty: [Name]</a:t>
            </a:r>
            <a:endParaRPr lang="en-US" sz="1600" dirty="0"/>
          </a:p>
        </p:txBody>
      </p:sp>
      <p:sp>
        <p:nvSpPr>
          <p:cNvPr id="4" name="Text 2"/>
          <p:cNvSpPr txBox="1"/>
          <p:nvPr/>
        </p:nvSpPr>
        <p:spPr>
          <a:xfrm>
            <a:off x="640080" y="640080"/>
            <a:ext cx="2743200" cy="365760"/>
          </a:xfrm>
          <a:prstGeom prst="rect">
            <a:avLst/>
          </a:prstGeom>
          <a:noFill/>
          <a:ln/>
        </p:spPr>
        <p:txBody>
          <a:bodyPr wrap="square" lIns="0" tIns="0" rIns="0" bIns="0" rtlCol="0" anchor="ctr"/>
          <a:lstStyle/>
          <a:p>
            <a:pPr indent="0" marL="0">
              <a:buNone/>
            </a:pPr>
            <a:r>
              <a:rPr lang="en-US" sz="1400" b="1" spc="400" kern="0" dirty="0">
                <a:solidFill>
                  <a:srgbClr val="F2A56B"/>
                </a:solidFill>
              </a:rPr>
              <a:t>PROJECT 41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3200" b="1" dirty="0">
                <a:solidFill>
                  <a:schemeClr val="tx2"/>
                </a:solidFill>
              </a:rPr>
              <a:t>Manual registers cannot track repairs</a:t>
            </a:r>
            <a:endParaRPr lang="en-US" sz="3200" dirty="0"/>
          </a:p>
        </p:txBody>
      </p:sp>
      <p:sp>
        <p:nvSpPr>
          <p:cNvPr id="4" name="card"/>
          <p:cNvSpPr/>
          <p:nvPr/>
        </p:nvSpPr>
        <p:spPr>
          <a:xfrm>
            <a:off x="457200" y="1280160"/>
            <a:ext cx="1920240" cy="2286000"/>
          </a:xfrm>
          <a:prstGeom prst="roundRect">
            <a:avLst>
              <a:gd name="adj" fmla="val 3810"/>
            </a:avLst>
          </a:prstGeom>
          <a:solidFill>
            <a:srgbClr val="F3F5F7"/>
          </a:solidFill>
          <a:ln w="9525">
            <a:solidFill>
              <a:srgbClr val="DFE5EA"/>
            </a:solidFill>
            <a:prstDash val="solid"/>
          </a:ln>
        </p:spPr>
      </p:sp>
      <p:sp>
        <p:nvSpPr>
          <p:cNvPr id="5" name="badge"/>
          <p:cNvSpPr/>
          <p:nvPr/>
        </p:nvSpPr>
        <p:spPr>
          <a:xfrm>
            <a:off x="640080" y="1463040"/>
            <a:ext cx="502920" cy="502920"/>
          </a:xfrm>
          <a:prstGeom prst="ellipse">
            <a:avLst/>
          </a:prstGeom>
          <a:solidFill>
            <a:srgbClr val="E36414"/>
          </a:solidFill>
          <a:ln w="12700">
            <a:solidFill>
              <a:srgbClr val="E36414"/>
            </a:solidFill>
            <a:prstDash val="solid"/>
          </a:ln>
        </p:spPr>
      </p:sp>
      <p:sp>
        <p:nvSpPr>
          <p:cNvPr id="6" name="Text 3"/>
          <p:cNvSpPr txBox="1"/>
          <p:nvPr/>
        </p:nvSpPr>
        <p:spPr>
          <a:xfrm>
            <a:off x="640080" y="1463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7" name="Text 4"/>
          <p:cNvSpPr txBox="1"/>
          <p:nvPr/>
        </p:nvSpPr>
        <p:spPr>
          <a:xfrm>
            <a:off x="640080" y="2103120"/>
            <a:ext cx="1600200" cy="365760"/>
          </a:xfrm>
          <a:prstGeom prst="rect">
            <a:avLst/>
          </a:prstGeom>
          <a:noFill/>
          <a:ln/>
        </p:spPr>
        <p:txBody>
          <a:bodyPr wrap="square" lIns="0" tIns="0" rIns="0" bIns="0" rtlCol="0" anchor="ctr"/>
          <a:lstStyle/>
          <a:p>
            <a:pPr indent="0" marL="0">
              <a:buNone/>
            </a:pPr>
            <a:r>
              <a:rPr lang="en-US" sz="1600" b="1" dirty="0">
                <a:solidFill>
                  <a:schemeClr val="tx1"/>
                </a:solidFill>
              </a:rPr>
              <a:t>No single view</a:t>
            </a:r>
            <a:endParaRPr lang="en-US" sz="1600" dirty="0"/>
          </a:p>
        </p:txBody>
      </p:sp>
      <p:sp>
        <p:nvSpPr>
          <p:cNvPr id="8" name="Text 5"/>
          <p:cNvSpPr txBox="1"/>
          <p:nvPr/>
        </p:nvSpPr>
        <p:spPr>
          <a:xfrm>
            <a:off x="640080" y="2514600"/>
            <a:ext cx="1600200" cy="914400"/>
          </a:xfrm>
          <a:prstGeom prst="rect">
            <a:avLst/>
          </a:prstGeom>
          <a:noFill/>
          <a:ln/>
        </p:spPr>
        <p:txBody>
          <a:bodyPr wrap="square" lIns="0" tIns="0" rIns="0" bIns="0" rtlCol="0" anchor="t"/>
          <a:lstStyle/>
          <a:p>
            <a:pPr indent="0" marL="0">
              <a:buNone/>
            </a:pPr>
            <a:r>
              <a:rPr lang="en-US" sz="1400" dirty="0">
                <a:solidFill>
                  <a:srgbClr val="64727F"/>
                </a:solidFill>
              </a:rPr>
              <a:t>Which complaints are pending, and for how long?</a:t>
            </a:r>
            <a:endParaRPr lang="en-US" sz="1400" dirty="0"/>
          </a:p>
        </p:txBody>
      </p:sp>
      <p:sp>
        <p:nvSpPr>
          <p:cNvPr id="9" name="card"/>
          <p:cNvSpPr/>
          <p:nvPr/>
        </p:nvSpPr>
        <p:spPr>
          <a:xfrm>
            <a:off x="2542032" y="1280160"/>
            <a:ext cx="1920240" cy="2286000"/>
          </a:xfrm>
          <a:prstGeom prst="roundRect">
            <a:avLst>
              <a:gd name="adj" fmla="val 3810"/>
            </a:avLst>
          </a:prstGeom>
          <a:solidFill>
            <a:srgbClr val="F3F5F7"/>
          </a:solidFill>
          <a:ln w="9525">
            <a:solidFill>
              <a:srgbClr val="DFE5EA"/>
            </a:solidFill>
            <a:prstDash val="solid"/>
          </a:ln>
        </p:spPr>
      </p:sp>
      <p:sp>
        <p:nvSpPr>
          <p:cNvPr id="10" name="badge"/>
          <p:cNvSpPr/>
          <p:nvPr/>
        </p:nvSpPr>
        <p:spPr>
          <a:xfrm>
            <a:off x="2724912" y="1463040"/>
            <a:ext cx="502920" cy="502920"/>
          </a:xfrm>
          <a:prstGeom prst="ellipse">
            <a:avLst/>
          </a:prstGeom>
          <a:solidFill>
            <a:srgbClr val="16697A"/>
          </a:solidFill>
          <a:ln w="12700">
            <a:solidFill>
              <a:srgbClr val="16697A"/>
            </a:solidFill>
            <a:prstDash val="solid"/>
          </a:ln>
        </p:spPr>
      </p:sp>
      <p:sp>
        <p:nvSpPr>
          <p:cNvPr id="11" name="Text 8"/>
          <p:cNvSpPr txBox="1"/>
          <p:nvPr/>
        </p:nvSpPr>
        <p:spPr>
          <a:xfrm>
            <a:off x="2724912" y="1463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2" name="Text 9"/>
          <p:cNvSpPr txBox="1"/>
          <p:nvPr/>
        </p:nvSpPr>
        <p:spPr>
          <a:xfrm>
            <a:off x="2724912" y="2103120"/>
            <a:ext cx="1600200" cy="365760"/>
          </a:xfrm>
          <a:prstGeom prst="rect">
            <a:avLst/>
          </a:prstGeom>
          <a:noFill/>
          <a:ln/>
        </p:spPr>
        <p:txBody>
          <a:bodyPr wrap="square" lIns="0" tIns="0" rIns="0" bIns="0" rtlCol="0" anchor="ctr"/>
          <a:lstStyle/>
          <a:p>
            <a:pPr indent="0" marL="0">
              <a:buNone/>
            </a:pPr>
            <a:r>
              <a:rPr lang="en-US" sz="1600" b="1" dirty="0">
                <a:solidFill>
                  <a:schemeClr val="tx1"/>
                </a:solidFill>
              </a:rPr>
              <a:t>Overloaded staff</a:t>
            </a:r>
            <a:endParaRPr lang="en-US" sz="1600" dirty="0"/>
          </a:p>
        </p:txBody>
      </p:sp>
      <p:sp>
        <p:nvSpPr>
          <p:cNvPr id="13" name="Text 10"/>
          <p:cNvSpPr txBox="1"/>
          <p:nvPr/>
        </p:nvSpPr>
        <p:spPr>
          <a:xfrm>
            <a:off x="2724912" y="2514600"/>
            <a:ext cx="1600200" cy="914400"/>
          </a:xfrm>
          <a:prstGeom prst="rect">
            <a:avLst/>
          </a:prstGeom>
          <a:noFill/>
          <a:ln/>
        </p:spPr>
        <p:txBody>
          <a:bodyPr wrap="square" lIns="0" tIns="0" rIns="0" bIns="0" rtlCol="0" anchor="t"/>
          <a:lstStyle/>
          <a:p>
            <a:pPr indent="0" marL="0">
              <a:buNone/>
            </a:pPr>
            <a:r>
              <a:rPr lang="en-US" sz="1400" dirty="0">
                <a:solidFill>
                  <a:srgbClr val="64727F"/>
                </a:solidFill>
              </a:rPr>
              <a:t>Technicians get jobs beyond their capacity</a:t>
            </a:r>
            <a:endParaRPr lang="en-US" sz="1400" dirty="0"/>
          </a:p>
        </p:txBody>
      </p:sp>
      <p:sp>
        <p:nvSpPr>
          <p:cNvPr id="14" name="card"/>
          <p:cNvSpPr/>
          <p:nvPr/>
        </p:nvSpPr>
        <p:spPr>
          <a:xfrm>
            <a:off x="4626864" y="1280160"/>
            <a:ext cx="1920240" cy="2286000"/>
          </a:xfrm>
          <a:prstGeom prst="roundRect">
            <a:avLst>
              <a:gd name="adj" fmla="val 3810"/>
            </a:avLst>
          </a:prstGeom>
          <a:solidFill>
            <a:srgbClr val="F3F5F7"/>
          </a:solidFill>
          <a:ln w="9525">
            <a:solidFill>
              <a:srgbClr val="DFE5EA"/>
            </a:solidFill>
            <a:prstDash val="solid"/>
          </a:ln>
        </p:spPr>
      </p:sp>
      <p:sp>
        <p:nvSpPr>
          <p:cNvPr id="15" name="badge"/>
          <p:cNvSpPr/>
          <p:nvPr/>
        </p:nvSpPr>
        <p:spPr>
          <a:xfrm>
            <a:off x="4809744" y="1463040"/>
            <a:ext cx="502920" cy="502920"/>
          </a:xfrm>
          <a:prstGeom prst="ellipse">
            <a:avLst/>
          </a:prstGeom>
          <a:solidFill>
            <a:srgbClr val="E36414"/>
          </a:solidFill>
          <a:ln w="12700">
            <a:solidFill>
              <a:srgbClr val="E36414"/>
            </a:solidFill>
            <a:prstDash val="solid"/>
          </a:ln>
        </p:spPr>
      </p:sp>
      <p:sp>
        <p:nvSpPr>
          <p:cNvPr id="16" name="Text 13"/>
          <p:cNvSpPr txBox="1"/>
          <p:nvPr/>
        </p:nvSpPr>
        <p:spPr>
          <a:xfrm>
            <a:off x="4809744" y="1463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7" name="Text 14"/>
          <p:cNvSpPr txBox="1"/>
          <p:nvPr/>
        </p:nvSpPr>
        <p:spPr>
          <a:xfrm>
            <a:off x="4809744" y="2103120"/>
            <a:ext cx="1600200" cy="365760"/>
          </a:xfrm>
          <a:prstGeom prst="rect">
            <a:avLst/>
          </a:prstGeom>
          <a:noFill/>
          <a:ln/>
        </p:spPr>
        <p:txBody>
          <a:bodyPr wrap="square" lIns="0" tIns="0" rIns="0" bIns="0" rtlCol="0" anchor="ctr"/>
          <a:lstStyle/>
          <a:p>
            <a:pPr indent="0" marL="0">
              <a:buNone/>
            </a:pPr>
            <a:r>
              <a:rPr lang="en-US" sz="1600" b="1" dirty="0">
                <a:solidFill>
                  <a:schemeClr val="tx1"/>
                </a:solidFill>
              </a:rPr>
              <a:t>Hidden costs</a:t>
            </a:r>
            <a:endParaRPr lang="en-US" sz="1600" dirty="0"/>
          </a:p>
        </p:txBody>
      </p:sp>
      <p:sp>
        <p:nvSpPr>
          <p:cNvPr id="18" name="Text 15"/>
          <p:cNvSpPr txBox="1"/>
          <p:nvPr/>
        </p:nvSpPr>
        <p:spPr>
          <a:xfrm>
            <a:off x="4809744" y="2514600"/>
            <a:ext cx="1600200" cy="914400"/>
          </a:xfrm>
          <a:prstGeom prst="rect">
            <a:avLst/>
          </a:prstGeom>
          <a:noFill/>
          <a:ln/>
        </p:spPr>
        <p:txBody>
          <a:bodyPr wrap="square" lIns="0" tIns="0" rIns="0" bIns="0" rtlCol="0" anchor="t"/>
          <a:lstStyle/>
          <a:p>
            <a:pPr indent="0" marL="0">
              <a:buNone/>
            </a:pPr>
            <a:r>
              <a:rPr lang="en-US" sz="1400" dirty="0">
                <a:solidFill>
                  <a:srgbClr val="64727F"/>
                </a:solidFill>
              </a:rPr>
              <a:t>Material and labour cost per building is unknown</a:t>
            </a:r>
            <a:endParaRPr lang="en-US" sz="1400" dirty="0"/>
          </a:p>
        </p:txBody>
      </p:sp>
      <p:sp>
        <p:nvSpPr>
          <p:cNvPr id="19" name="card"/>
          <p:cNvSpPr/>
          <p:nvPr/>
        </p:nvSpPr>
        <p:spPr>
          <a:xfrm>
            <a:off x="6711696" y="1280160"/>
            <a:ext cx="1920240" cy="2286000"/>
          </a:xfrm>
          <a:prstGeom prst="roundRect">
            <a:avLst>
              <a:gd name="adj" fmla="val 3810"/>
            </a:avLst>
          </a:prstGeom>
          <a:solidFill>
            <a:srgbClr val="F3F5F7"/>
          </a:solidFill>
          <a:ln w="9525">
            <a:solidFill>
              <a:srgbClr val="DFE5EA"/>
            </a:solidFill>
            <a:prstDash val="solid"/>
          </a:ln>
        </p:spPr>
      </p:sp>
      <p:sp>
        <p:nvSpPr>
          <p:cNvPr id="20" name="badge"/>
          <p:cNvSpPr/>
          <p:nvPr/>
        </p:nvSpPr>
        <p:spPr>
          <a:xfrm>
            <a:off x="6894576" y="1463040"/>
            <a:ext cx="502920" cy="502920"/>
          </a:xfrm>
          <a:prstGeom prst="ellipse">
            <a:avLst/>
          </a:prstGeom>
          <a:solidFill>
            <a:srgbClr val="16697A"/>
          </a:solidFill>
          <a:ln w="12700">
            <a:solidFill>
              <a:srgbClr val="16697A"/>
            </a:solidFill>
            <a:prstDash val="solid"/>
          </a:ln>
        </p:spPr>
      </p:sp>
      <p:sp>
        <p:nvSpPr>
          <p:cNvPr id="21" name="Text 18"/>
          <p:cNvSpPr txBox="1"/>
          <p:nvPr/>
        </p:nvSpPr>
        <p:spPr>
          <a:xfrm>
            <a:off x="6894576" y="1463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22" name="Text 19"/>
          <p:cNvSpPr txBox="1"/>
          <p:nvPr/>
        </p:nvSpPr>
        <p:spPr>
          <a:xfrm>
            <a:off x="6894576" y="2103120"/>
            <a:ext cx="1600200" cy="365760"/>
          </a:xfrm>
          <a:prstGeom prst="rect">
            <a:avLst/>
          </a:prstGeom>
          <a:noFill/>
          <a:ln/>
        </p:spPr>
        <p:txBody>
          <a:bodyPr wrap="square" lIns="0" tIns="0" rIns="0" bIns="0" rtlCol="0" anchor="ctr"/>
          <a:lstStyle/>
          <a:p>
            <a:pPr indent="0" marL="0">
              <a:buNone/>
            </a:pPr>
            <a:r>
              <a:rPr lang="en-US" sz="1600" b="1" dirty="0">
                <a:solidFill>
                  <a:schemeClr val="tx1"/>
                </a:solidFill>
              </a:rPr>
              <a:t>No closure proof</a:t>
            </a:r>
            <a:endParaRPr lang="en-US" sz="1600" dirty="0"/>
          </a:p>
        </p:txBody>
      </p:sp>
      <p:sp>
        <p:nvSpPr>
          <p:cNvPr id="23" name="Text 20"/>
          <p:cNvSpPr txBox="1"/>
          <p:nvPr/>
        </p:nvSpPr>
        <p:spPr>
          <a:xfrm>
            <a:off x="6894576" y="2514600"/>
            <a:ext cx="1600200" cy="914400"/>
          </a:xfrm>
          <a:prstGeom prst="rect">
            <a:avLst/>
          </a:prstGeom>
          <a:noFill/>
          <a:ln/>
        </p:spPr>
        <p:txBody>
          <a:bodyPr wrap="square" lIns="0" tIns="0" rIns="0" bIns="0" rtlCol="0" anchor="t"/>
          <a:lstStyle/>
          <a:p>
            <a:pPr indent="0" marL="0">
              <a:buNone/>
            </a:pPr>
            <a:r>
              <a:rPr lang="en-US" sz="1400" dirty="0">
                <a:solidFill>
                  <a:srgbClr val="64727F"/>
                </a:solidFill>
              </a:rPr>
              <a:t>Requests close without any record of work done</a:t>
            </a:r>
            <a:endParaRPr lang="en-US" sz="1400" dirty="0"/>
          </a:p>
        </p:txBody>
      </p:sp>
      <p:sp>
        <p:nvSpPr>
          <p:cNvPr id="24" name="Text 21"/>
          <p:cNvSpPr txBox="1"/>
          <p:nvPr/>
        </p:nvSpPr>
        <p:spPr>
          <a:xfrm>
            <a:off x="457200" y="3840480"/>
            <a:ext cx="8229600" cy="548640"/>
          </a:xfrm>
          <a:prstGeom prst="rect">
            <a:avLst/>
          </a:prstGeom>
          <a:noFill/>
          <a:ln/>
        </p:spPr>
        <p:txBody>
          <a:bodyPr wrap="square" lIns="0" tIns="0" rIns="0" bIns="0" rtlCol="0" anchor="ctr"/>
          <a:lstStyle/>
          <a:p>
            <a:pPr indent="0" marL="0">
              <a:buNone/>
            </a:pPr>
            <a:r>
              <a:rPr lang="en-US" sz="1800" b="1" dirty="0">
                <a:solidFill>
                  <a:srgbClr val="E36414"/>
                </a:solidFill>
              </a:rPr>
              <a:t>Need: </a:t>
            </a:r>
            <a:pPr indent="0" marL="0">
              <a:buNone/>
            </a:pPr>
            <a:r>
              <a:rPr lang="en-US" sz="1800" dirty="0">
                <a:solidFill>
                  <a:schemeClr val="tx1"/>
                </a:solidFill>
              </a:rPr>
              <a:t>a normalised database with rules enforced inside it, plus a simple application for daily use.</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27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3200" b="1" dirty="0">
                <a:solidFill>
                  <a:schemeClr val="tx2"/>
                </a:solidFill>
              </a:rPr>
              <a:t>Objectives and scope</a:t>
            </a:r>
            <a:endParaRPr lang="en-US" sz="3200" dirty="0"/>
          </a:p>
        </p:txBody>
      </p:sp>
      <p:sp>
        <p:nvSpPr>
          <p:cNvPr id="4" name="badge"/>
          <p:cNvSpPr/>
          <p:nvPr/>
        </p:nvSpPr>
        <p:spPr>
          <a:xfrm>
            <a:off x="457200" y="1143000"/>
            <a:ext cx="411480" cy="411480"/>
          </a:xfrm>
          <a:prstGeom prst="ellipse">
            <a:avLst/>
          </a:prstGeom>
          <a:solidFill>
            <a:srgbClr val="0F4C5C"/>
          </a:solidFill>
          <a:ln w="12700">
            <a:solidFill>
              <a:srgbClr val="0F4C5C"/>
            </a:solidFill>
            <a:prstDash val="solid"/>
          </a:ln>
        </p:spPr>
      </p:sp>
      <p:sp>
        <p:nvSpPr>
          <p:cNvPr id="5" name="Text 2"/>
          <p:cNvSpPr txBox="1"/>
          <p:nvPr/>
        </p:nvSpPr>
        <p:spPr>
          <a:xfrm>
            <a:off x="457200" y="11430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3"/>
          <p:cNvSpPr txBox="1"/>
          <p:nvPr/>
        </p:nvSpPr>
        <p:spPr>
          <a:xfrm>
            <a:off x="1051560" y="1124712"/>
            <a:ext cx="4754880" cy="457200"/>
          </a:xfrm>
          <a:prstGeom prst="rect">
            <a:avLst/>
          </a:prstGeom>
          <a:noFill/>
          <a:ln/>
        </p:spPr>
        <p:txBody>
          <a:bodyPr wrap="square" lIns="0" tIns="0" rIns="0" bIns="0" rtlCol="0" anchor="ctr"/>
          <a:lstStyle/>
          <a:p>
            <a:pPr indent="0" marL="0">
              <a:buNone/>
            </a:pPr>
            <a:r>
              <a:rPr lang="en-US" sz="1600" dirty="0">
                <a:solidFill>
                  <a:schemeClr val="tx1"/>
                </a:solidFill>
              </a:rPr>
              <a:t>Design ER model and 3NF schema (16 entities)</a:t>
            </a:r>
            <a:endParaRPr lang="en-US" sz="1600" dirty="0"/>
          </a:p>
        </p:txBody>
      </p:sp>
      <p:sp>
        <p:nvSpPr>
          <p:cNvPr id="7" name="badge"/>
          <p:cNvSpPr/>
          <p:nvPr/>
        </p:nvSpPr>
        <p:spPr>
          <a:xfrm>
            <a:off x="457200" y="1783080"/>
            <a:ext cx="411480" cy="411480"/>
          </a:xfrm>
          <a:prstGeom prst="ellipse">
            <a:avLst/>
          </a:prstGeom>
          <a:solidFill>
            <a:srgbClr val="16697A"/>
          </a:solidFill>
          <a:ln w="12700">
            <a:solidFill>
              <a:srgbClr val="16697A"/>
            </a:solidFill>
            <a:prstDash val="solid"/>
          </a:ln>
        </p:spPr>
      </p:sp>
      <p:sp>
        <p:nvSpPr>
          <p:cNvPr id="8" name="Text 5"/>
          <p:cNvSpPr txBox="1"/>
          <p:nvPr/>
        </p:nvSpPr>
        <p:spPr>
          <a:xfrm>
            <a:off x="457200" y="178308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9" name="Text 6"/>
          <p:cNvSpPr txBox="1"/>
          <p:nvPr/>
        </p:nvSpPr>
        <p:spPr>
          <a:xfrm>
            <a:off x="1051560" y="1764792"/>
            <a:ext cx="4754880" cy="457200"/>
          </a:xfrm>
          <a:prstGeom prst="rect">
            <a:avLst/>
          </a:prstGeom>
          <a:noFill/>
          <a:ln/>
        </p:spPr>
        <p:txBody>
          <a:bodyPr wrap="square" lIns="0" tIns="0" rIns="0" bIns="0" rtlCol="0" anchor="ctr"/>
          <a:lstStyle/>
          <a:p>
            <a:pPr indent="0" marL="0">
              <a:buNone/>
            </a:pPr>
            <a:r>
              <a:rPr lang="en-US" sz="1600" dirty="0">
                <a:solidFill>
                  <a:schemeClr val="tx1"/>
                </a:solidFill>
              </a:rPr>
              <a:t>Implement SQLite DB: constraints, triggers, views, 40 sample requests</a:t>
            </a:r>
            <a:endParaRPr lang="en-US" sz="1600" dirty="0"/>
          </a:p>
        </p:txBody>
      </p:sp>
      <p:sp>
        <p:nvSpPr>
          <p:cNvPr id="10" name="badge"/>
          <p:cNvSpPr/>
          <p:nvPr/>
        </p:nvSpPr>
        <p:spPr>
          <a:xfrm>
            <a:off x="457200" y="2423160"/>
            <a:ext cx="411480" cy="411480"/>
          </a:xfrm>
          <a:prstGeom prst="ellipse">
            <a:avLst/>
          </a:prstGeom>
          <a:solidFill>
            <a:srgbClr val="0F4C5C"/>
          </a:solidFill>
          <a:ln w="12700">
            <a:solidFill>
              <a:srgbClr val="0F4C5C"/>
            </a:solidFill>
            <a:prstDash val="solid"/>
          </a:ln>
        </p:spPr>
      </p:sp>
      <p:sp>
        <p:nvSpPr>
          <p:cNvPr id="11" name="Text 8"/>
          <p:cNvSpPr txBox="1"/>
          <p:nvPr/>
        </p:nvSpPr>
        <p:spPr>
          <a:xfrm>
            <a:off x="457200" y="242316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2" name="Text 9"/>
          <p:cNvSpPr txBox="1"/>
          <p:nvPr/>
        </p:nvSpPr>
        <p:spPr>
          <a:xfrm>
            <a:off x="1051560" y="2404872"/>
            <a:ext cx="4754880" cy="457200"/>
          </a:xfrm>
          <a:prstGeom prst="rect">
            <a:avLst/>
          </a:prstGeom>
          <a:noFill/>
          <a:ln/>
        </p:spPr>
        <p:txBody>
          <a:bodyPr wrap="square" lIns="0" tIns="0" rIns="0" bIns="0" rtlCol="0" anchor="ctr"/>
          <a:lstStyle/>
          <a:p>
            <a:pPr indent="0" marL="0">
              <a:buNone/>
            </a:pPr>
            <a:r>
              <a:rPr lang="en-US" sz="1600" dirty="0">
                <a:solidFill>
                  <a:schemeClr val="tx1"/>
                </a:solidFill>
              </a:rPr>
              <a:t>Enforce 5 business rules inside the database</a:t>
            </a:r>
            <a:endParaRPr lang="en-US" sz="1600" dirty="0"/>
          </a:p>
        </p:txBody>
      </p:sp>
      <p:sp>
        <p:nvSpPr>
          <p:cNvPr id="13" name="badge"/>
          <p:cNvSpPr/>
          <p:nvPr/>
        </p:nvSpPr>
        <p:spPr>
          <a:xfrm>
            <a:off x="457200" y="3063240"/>
            <a:ext cx="411480" cy="411480"/>
          </a:xfrm>
          <a:prstGeom prst="ellipse">
            <a:avLst/>
          </a:prstGeom>
          <a:solidFill>
            <a:srgbClr val="16697A"/>
          </a:solidFill>
          <a:ln w="12700">
            <a:solidFill>
              <a:srgbClr val="16697A"/>
            </a:solidFill>
            <a:prstDash val="solid"/>
          </a:ln>
        </p:spPr>
      </p:sp>
      <p:sp>
        <p:nvSpPr>
          <p:cNvPr id="14" name="Text 11"/>
          <p:cNvSpPr txBox="1"/>
          <p:nvPr/>
        </p:nvSpPr>
        <p:spPr>
          <a:xfrm>
            <a:off x="457200" y="30632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5" name="Text 12"/>
          <p:cNvSpPr txBox="1"/>
          <p:nvPr/>
        </p:nvSpPr>
        <p:spPr>
          <a:xfrm>
            <a:off x="1051560" y="3044952"/>
            <a:ext cx="4754880" cy="457200"/>
          </a:xfrm>
          <a:prstGeom prst="rect">
            <a:avLst/>
          </a:prstGeom>
          <a:noFill/>
          <a:ln/>
        </p:spPr>
        <p:txBody>
          <a:bodyPr wrap="square" lIns="0" tIns="0" rIns="0" bIns="0" rtlCol="0" anchor="ctr"/>
          <a:lstStyle/>
          <a:p>
            <a:pPr indent="0" marL="0">
              <a:buNone/>
            </a:pPr>
            <a:r>
              <a:rPr lang="en-US" sz="1600" dirty="0">
                <a:solidFill>
                  <a:schemeClr val="tx1"/>
                </a:solidFill>
              </a:rPr>
              <a:t>Build Python/Flask app with parameterised queries and transactions</a:t>
            </a:r>
            <a:endParaRPr lang="en-US" sz="1600" dirty="0"/>
          </a:p>
        </p:txBody>
      </p:sp>
      <p:sp>
        <p:nvSpPr>
          <p:cNvPr id="16" name="badge"/>
          <p:cNvSpPr/>
          <p:nvPr/>
        </p:nvSpPr>
        <p:spPr>
          <a:xfrm>
            <a:off x="457200" y="3703320"/>
            <a:ext cx="411480" cy="411480"/>
          </a:xfrm>
          <a:prstGeom prst="ellipse">
            <a:avLst/>
          </a:prstGeom>
          <a:solidFill>
            <a:srgbClr val="0F4C5C"/>
          </a:solidFill>
          <a:ln w="12700">
            <a:solidFill>
              <a:srgbClr val="0F4C5C"/>
            </a:solidFill>
            <a:prstDash val="solid"/>
          </a:ln>
        </p:spPr>
      </p:sp>
      <p:sp>
        <p:nvSpPr>
          <p:cNvPr id="17" name="Text 14"/>
          <p:cNvSpPr txBox="1"/>
          <p:nvPr/>
        </p:nvSpPr>
        <p:spPr>
          <a:xfrm>
            <a:off x="457200" y="370332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8" name="Text 15"/>
          <p:cNvSpPr txBox="1"/>
          <p:nvPr/>
        </p:nvSpPr>
        <p:spPr>
          <a:xfrm>
            <a:off x="1051560" y="3685032"/>
            <a:ext cx="4754880" cy="457200"/>
          </a:xfrm>
          <a:prstGeom prst="rect">
            <a:avLst/>
          </a:prstGeom>
          <a:noFill/>
          <a:ln/>
        </p:spPr>
        <p:txBody>
          <a:bodyPr wrap="square" lIns="0" tIns="0" rIns="0" bIns="0" rtlCol="0" anchor="ctr"/>
          <a:lstStyle/>
          <a:p>
            <a:pPr indent="0" marL="0">
              <a:buNone/>
            </a:pPr>
            <a:r>
              <a:rPr lang="en-US" sz="1600" dirty="0">
                <a:solidFill>
                  <a:schemeClr val="tx1"/>
                </a:solidFill>
              </a:rPr>
              <a:t>Produce 7+ reports and validate with 19 test cases</a:t>
            </a:r>
            <a:endParaRPr lang="en-US" sz="1600" dirty="0"/>
          </a:p>
        </p:txBody>
      </p:sp>
      <p:sp>
        <p:nvSpPr>
          <p:cNvPr id="19" name="card"/>
          <p:cNvSpPr/>
          <p:nvPr/>
        </p:nvSpPr>
        <p:spPr>
          <a:xfrm>
            <a:off x="6126480" y="1143000"/>
            <a:ext cx="2560320" cy="3108960"/>
          </a:xfrm>
          <a:prstGeom prst="roundRect">
            <a:avLst>
              <a:gd name="adj" fmla="val 2857"/>
            </a:avLst>
          </a:prstGeom>
          <a:solidFill>
            <a:srgbClr val="E6F1F3"/>
          </a:solidFill>
          <a:ln w="9525">
            <a:solidFill>
              <a:srgbClr val="DFE5EA"/>
            </a:solidFill>
            <a:prstDash val="solid"/>
          </a:ln>
        </p:spPr>
      </p:sp>
      <p:sp>
        <p:nvSpPr>
          <p:cNvPr id="20" name="Text 17"/>
          <p:cNvSpPr txBox="1"/>
          <p:nvPr/>
        </p:nvSpPr>
        <p:spPr>
          <a:xfrm>
            <a:off x="6309360" y="1280160"/>
            <a:ext cx="2194560" cy="320040"/>
          </a:xfrm>
          <a:prstGeom prst="rect">
            <a:avLst/>
          </a:prstGeom>
          <a:noFill/>
          <a:ln/>
        </p:spPr>
        <p:txBody>
          <a:bodyPr wrap="square" lIns="0" tIns="0" rIns="0" bIns="0" rtlCol="0" anchor="ctr"/>
          <a:lstStyle/>
          <a:p>
            <a:pPr indent="0" marL="0">
              <a:buNone/>
            </a:pPr>
            <a:r>
              <a:rPr lang="en-US" sz="1600" b="1" dirty="0">
                <a:solidFill>
                  <a:schemeClr val="tx2"/>
                </a:solidFill>
              </a:rPr>
              <a:t>Out of scope</a:t>
            </a:r>
            <a:endParaRPr lang="en-US" sz="1600" dirty="0"/>
          </a:p>
        </p:txBody>
      </p:sp>
      <p:sp>
        <p:nvSpPr>
          <p:cNvPr id="21" name="Text 18"/>
          <p:cNvSpPr txBox="1"/>
          <p:nvPr/>
        </p:nvSpPr>
        <p:spPr>
          <a:xfrm>
            <a:off x="6309360" y="1691640"/>
            <a:ext cx="219456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Login and roles</a:t>
            </a:r>
            <a:endParaRPr lang="en-US" sz="1400" dirty="0"/>
          </a:p>
          <a:p>
            <a:pPr marL="342900" indent="-342900">
              <a:spcAft>
                <a:spcPts val="600"/>
              </a:spcAft>
              <a:buSzPct val="100000"/>
              <a:buChar char="•"/>
            </a:pPr>
            <a:r>
              <a:rPr lang="en-US" sz="1400" dirty="0">
                <a:solidFill>
                  <a:schemeClr val="tx1"/>
                </a:solidFill>
              </a:rPr>
              <a:t>E-mail / SMS alerts</a:t>
            </a:r>
            <a:endParaRPr lang="en-US" sz="1400" dirty="0"/>
          </a:p>
          <a:p>
            <a:pPr marL="342900" indent="-342900">
              <a:spcAft>
                <a:spcPts val="600"/>
              </a:spcAft>
              <a:buSzPct val="100000"/>
              <a:buChar char="•"/>
            </a:pPr>
            <a:r>
              <a:rPr lang="en-US" sz="1400" dirty="0">
                <a:solidFill>
                  <a:schemeClr val="tx1"/>
                </a:solidFill>
              </a:rPr>
              <a:t>Preventive maintenance</a:t>
            </a:r>
            <a:endParaRPr lang="en-US" sz="1400" dirty="0"/>
          </a:p>
          <a:p>
            <a:pPr marL="342900" indent="-342900">
              <a:spcAft>
                <a:spcPts val="600"/>
              </a:spcAft>
              <a:buSzPct val="100000"/>
              <a:buChar char="•"/>
            </a:pPr>
            <a:r>
              <a:rPr lang="en-US" sz="1400" dirty="0">
                <a:solidFill>
                  <a:schemeClr val="tx1"/>
                </a:solidFill>
              </a:rPr>
              <a:t>Vendor invoicing</a:t>
            </a:r>
            <a:endParaRPr lang="en-US" sz="1400" dirty="0"/>
          </a:p>
          <a:p>
            <a:pPr marL="342900" indent="-342900">
              <a:spcAft>
                <a:spcPts val="600"/>
              </a:spcAft>
              <a:buSzPct val="100000"/>
              <a:buChar char="•"/>
            </a:pPr>
            <a:r>
              <a:rPr lang="en-US" sz="1400" dirty="0">
                <a:solidFill>
                  <a:schemeClr val="tx1"/>
                </a:solidFill>
              </a:rPr>
              <a:t>Mobile app</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27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3200" b="1" dirty="0">
                <a:solidFill>
                  <a:schemeClr val="tx2"/>
                </a:solidFill>
              </a:rPr>
              <a:t>Rules live in the database</a:t>
            </a:r>
            <a:endParaRPr lang="en-US" sz="3200" dirty="0"/>
          </a:p>
        </p:txBody>
      </p:sp>
      <p:sp>
        <p:nvSpPr>
          <p:cNvPr id="4" name="layer"/>
          <p:cNvSpPr/>
          <p:nvPr/>
        </p:nvSpPr>
        <p:spPr>
          <a:xfrm>
            <a:off x="457200" y="1234440"/>
            <a:ext cx="5120640" cy="868680"/>
          </a:xfrm>
          <a:prstGeom prst="roundRect">
            <a:avLst>
              <a:gd name="adj" fmla="val 8421"/>
            </a:avLst>
          </a:prstGeom>
          <a:solidFill>
            <a:srgbClr val="16697A"/>
          </a:solidFill>
          <a:ln w="12700">
            <a:solidFill>
              <a:srgbClr val="16697A"/>
            </a:solidFill>
            <a:prstDash val="solid"/>
          </a:ln>
        </p:spPr>
      </p:sp>
      <p:sp>
        <p:nvSpPr>
          <p:cNvPr id="5" name="Text 2"/>
          <p:cNvSpPr txBox="1"/>
          <p:nvPr/>
        </p:nvSpPr>
        <p:spPr>
          <a:xfrm>
            <a:off x="640080" y="1234440"/>
            <a:ext cx="4754880" cy="868680"/>
          </a:xfrm>
          <a:prstGeom prst="rect">
            <a:avLst/>
          </a:prstGeom>
          <a:noFill/>
          <a:ln/>
        </p:spPr>
        <p:txBody>
          <a:bodyPr wrap="square" lIns="0" tIns="0" rIns="0" bIns="0" rtlCol="0" anchor="ctr"/>
          <a:lstStyle/>
          <a:p>
            <a:pPr indent="0" marL="0">
              <a:buNone/>
            </a:pPr>
            <a:r>
              <a:rPr lang="en-US" sz="1800" b="1" dirty="0">
                <a:solidFill>
                  <a:srgbClr val="FFFFFF"/>
                </a:solidFill>
              </a:rPr>
              <a:t>Browser UI</a:t>
            </a:r>
            <a:endParaRPr lang="en-US" sz="1800" dirty="0"/>
          </a:p>
          <a:p>
            <a:pPr indent="0" marL="0">
              <a:buNone/>
            </a:pPr>
            <a:r>
              <a:rPr lang="en-US" sz="1300" dirty="0">
                <a:solidFill>
                  <a:srgbClr val="FFFFFF"/>
                </a:solidFill>
              </a:rPr>
              <a:t>Forms, search, dashboard, reports</a:t>
            </a:r>
            <a:endParaRPr lang="en-US" sz="1800" dirty="0"/>
          </a:p>
        </p:txBody>
      </p:sp>
      <p:sp>
        <p:nvSpPr>
          <p:cNvPr id="6" name="Text 3"/>
          <p:cNvSpPr txBox="1"/>
          <p:nvPr/>
        </p:nvSpPr>
        <p:spPr>
          <a:xfrm>
            <a:off x="2743200" y="2084832"/>
            <a:ext cx="548640" cy="274320"/>
          </a:xfrm>
          <a:prstGeom prst="rect">
            <a:avLst/>
          </a:prstGeom>
          <a:noFill/>
          <a:ln/>
        </p:spPr>
        <p:txBody>
          <a:bodyPr wrap="square" lIns="0" tIns="0" rIns="0" bIns="0" rtlCol="0" anchor="ctr"/>
          <a:lstStyle/>
          <a:p>
            <a:pPr algn="ctr" indent="0" marL="0">
              <a:buNone/>
            </a:pPr>
            <a:r>
              <a:rPr lang="en-US" sz="1200" dirty="0">
                <a:solidFill>
                  <a:srgbClr val="64727F"/>
                </a:solidFill>
              </a:rPr>
              <a:t>▼</a:t>
            </a:r>
            <a:endParaRPr lang="en-US" sz="1200" dirty="0"/>
          </a:p>
        </p:txBody>
      </p:sp>
      <p:sp>
        <p:nvSpPr>
          <p:cNvPr id="7" name="layer"/>
          <p:cNvSpPr/>
          <p:nvPr/>
        </p:nvSpPr>
        <p:spPr>
          <a:xfrm>
            <a:off x="457200" y="2331720"/>
            <a:ext cx="5120640" cy="868680"/>
          </a:xfrm>
          <a:prstGeom prst="roundRect">
            <a:avLst>
              <a:gd name="adj" fmla="val 8421"/>
            </a:avLst>
          </a:prstGeom>
          <a:solidFill>
            <a:srgbClr val="0F4C5C"/>
          </a:solidFill>
          <a:ln w="12700">
            <a:solidFill>
              <a:srgbClr val="0F4C5C"/>
            </a:solidFill>
            <a:prstDash val="solid"/>
          </a:ln>
        </p:spPr>
      </p:sp>
      <p:sp>
        <p:nvSpPr>
          <p:cNvPr id="8" name="Text 5"/>
          <p:cNvSpPr txBox="1"/>
          <p:nvPr/>
        </p:nvSpPr>
        <p:spPr>
          <a:xfrm>
            <a:off x="640080" y="2331720"/>
            <a:ext cx="4754880" cy="868680"/>
          </a:xfrm>
          <a:prstGeom prst="rect">
            <a:avLst/>
          </a:prstGeom>
          <a:noFill/>
          <a:ln/>
        </p:spPr>
        <p:txBody>
          <a:bodyPr wrap="square" lIns="0" tIns="0" rIns="0" bIns="0" rtlCol="0" anchor="ctr"/>
          <a:lstStyle/>
          <a:p>
            <a:pPr indent="0" marL="0">
              <a:buNone/>
            </a:pPr>
            <a:r>
              <a:rPr lang="en-US" sz="1800" b="1" dirty="0">
                <a:solidFill>
                  <a:srgbClr val="FFFFFF"/>
                </a:solidFill>
              </a:rPr>
              <a:t>Flask application (Python)</a:t>
            </a:r>
            <a:endParaRPr lang="en-US" sz="1800" dirty="0"/>
          </a:p>
          <a:p>
            <a:pPr indent="0" marL="0">
              <a:buNone/>
            </a:pPr>
            <a:r>
              <a:rPr lang="en-US" sz="1300" dirty="0">
                <a:solidFill>
                  <a:srgbClr val="FFFFFF"/>
                </a:solidFill>
              </a:rPr>
              <a:t>Input validation • parameterised SQL • transactions • friendly errors</a:t>
            </a:r>
            <a:endParaRPr lang="en-US" sz="1800" dirty="0"/>
          </a:p>
        </p:txBody>
      </p:sp>
      <p:sp>
        <p:nvSpPr>
          <p:cNvPr id="9" name="Text 6"/>
          <p:cNvSpPr txBox="1"/>
          <p:nvPr/>
        </p:nvSpPr>
        <p:spPr>
          <a:xfrm>
            <a:off x="2743200" y="3182112"/>
            <a:ext cx="548640" cy="274320"/>
          </a:xfrm>
          <a:prstGeom prst="rect">
            <a:avLst/>
          </a:prstGeom>
          <a:noFill/>
          <a:ln/>
        </p:spPr>
        <p:txBody>
          <a:bodyPr wrap="square" lIns="0" tIns="0" rIns="0" bIns="0" rtlCol="0" anchor="ctr"/>
          <a:lstStyle/>
          <a:p>
            <a:pPr algn="ctr" indent="0" marL="0">
              <a:buNone/>
            </a:pPr>
            <a:r>
              <a:rPr lang="en-US" sz="1200" dirty="0">
                <a:solidFill>
                  <a:srgbClr val="64727F"/>
                </a:solidFill>
              </a:rPr>
              <a:t>▼</a:t>
            </a:r>
            <a:endParaRPr lang="en-US" sz="1200" dirty="0"/>
          </a:p>
        </p:txBody>
      </p:sp>
      <p:sp>
        <p:nvSpPr>
          <p:cNvPr id="10" name="layer"/>
          <p:cNvSpPr/>
          <p:nvPr/>
        </p:nvSpPr>
        <p:spPr>
          <a:xfrm>
            <a:off x="457200" y="3429000"/>
            <a:ext cx="5120640" cy="868680"/>
          </a:xfrm>
          <a:prstGeom prst="roundRect">
            <a:avLst>
              <a:gd name="adj" fmla="val 8421"/>
            </a:avLst>
          </a:prstGeom>
          <a:solidFill>
            <a:srgbClr val="E36414"/>
          </a:solidFill>
          <a:ln w="12700">
            <a:solidFill>
              <a:srgbClr val="E36414"/>
            </a:solidFill>
            <a:prstDash val="solid"/>
          </a:ln>
        </p:spPr>
      </p:sp>
      <p:sp>
        <p:nvSpPr>
          <p:cNvPr id="11" name="Text 8"/>
          <p:cNvSpPr txBox="1"/>
          <p:nvPr/>
        </p:nvSpPr>
        <p:spPr>
          <a:xfrm>
            <a:off x="640080" y="3429000"/>
            <a:ext cx="4754880" cy="868680"/>
          </a:xfrm>
          <a:prstGeom prst="rect">
            <a:avLst/>
          </a:prstGeom>
          <a:noFill/>
          <a:ln/>
        </p:spPr>
        <p:txBody>
          <a:bodyPr wrap="square" lIns="0" tIns="0" rIns="0" bIns="0" rtlCol="0" anchor="ctr"/>
          <a:lstStyle/>
          <a:p>
            <a:pPr indent="0" marL="0">
              <a:buNone/>
            </a:pPr>
            <a:r>
              <a:rPr lang="en-US" sz="1800" b="1" dirty="0">
                <a:solidFill>
                  <a:srgbClr val="FFFFFF"/>
                </a:solidFill>
              </a:rPr>
              <a:t>SQLite database</a:t>
            </a:r>
            <a:endParaRPr lang="en-US" sz="1800" dirty="0"/>
          </a:p>
          <a:p>
            <a:pPr indent="0" marL="0">
              <a:buNone/>
            </a:pPr>
            <a:r>
              <a:rPr lang="en-US" sz="1300" dirty="0">
                <a:solidFill>
                  <a:srgbClr val="FFFFFF"/>
                </a:solidFill>
              </a:rPr>
              <a:t>16 tables • 11 indexes • 12 triggers • 8 views</a:t>
            </a:r>
            <a:endParaRPr lang="en-US" sz="1800" dirty="0"/>
          </a:p>
        </p:txBody>
      </p:sp>
      <p:sp>
        <p:nvSpPr>
          <p:cNvPr id="12" name="card"/>
          <p:cNvSpPr/>
          <p:nvPr/>
        </p:nvSpPr>
        <p:spPr>
          <a:xfrm>
            <a:off x="5943600" y="1234440"/>
            <a:ext cx="2743200" cy="3063240"/>
          </a:xfrm>
          <a:prstGeom prst="roundRect">
            <a:avLst>
              <a:gd name="adj" fmla="val 2667"/>
            </a:avLst>
          </a:prstGeom>
          <a:solidFill>
            <a:srgbClr val="F3F5F7"/>
          </a:solidFill>
          <a:ln w="9525">
            <a:solidFill>
              <a:srgbClr val="DFE5EA"/>
            </a:solidFill>
            <a:prstDash val="solid"/>
          </a:ln>
        </p:spPr>
      </p:sp>
      <p:sp>
        <p:nvSpPr>
          <p:cNvPr id="13" name="Text 10"/>
          <p:cNvSpPr txBox="1"/>
          <p:nvPr/>
        </p:nvSpPr>
        <p:spPr>
          <a:xfrm>
            <a:off x="6126480" y="1371600"/>
            <a:ext cx="2377440" cy="320040"/>
          </a:xfrm>
          <a:prstGeom prst="rect">
            <a:avLst/>
          </a:prstGeom>
          <a:noFill/>
          <a:ln/>
        </p:spPr>
        <p:txBody>
          <a:bodyPr wrap="square" lIns="0" tIns="0" rIns="0" bIns="0" rtlCol="0" anchor="ctr"/>
          <a:lstStyle/>
          <a:p>
            <a:pPr indent="0" marL="0">
              <a:buNone/>
            </a:pPr>
            <a:r>
              <a:rPr lang="en-US" sz="1600" b="1" dirty="0">
                <a:solidFill>
                  <a:schemeClr val="tx2"/>
                </a:solidFill>
              </a:rPr>
              <a:t>Why this matters</a:t>
            </a:r>
            <a:endParaRPr lang="en-US" sz="1600" dirty="0"/>
          </a:p>
        </p:txBody>
      </p:sp>
      <p:sp>
        <p:nvSpPr>
          <p:cNvPr id="14" name="Text 11"/>
          <p:cNvSpPr txBox="1"/>
          <p:nvPr/>
        </p:nvSpPr>
        <p:spPr>
          <a:xfrm>
            <a:off x="6126480" y="1783080"/>
            <a:ext cx="242316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Rules hold for every user and program</a:t>
            </a:r>
            <a:endParaRPr lang="en-US" sz="1400" dirty="0"/>
          </a:p>
          <a:p>
            <a:pPr marL="342900" indent="-342900">
              <a:spcAft>
                <a:spcPts val="800"/>
              </a:spcAft>
              <a:buSzPct val="100000"/>
              <a:buChar char="•"/>
            </a:pPr>
            <a:r>
              <a:rPr lang="en-US" sz="1400" dirty="0">
                <a:solidFill>
                  <a:schemeClr val="tx1"/>
                </a:solidFill>
              </a:rPr>
              <a:t>Every status change is logged automatically</a:t>
            </a:r>
            <a:endParaRPr lang="en-US" sz="1400" dirty="0"/>
          </a:p>
          <a:p>
            <a:pPr marL="342900" indent="-342900">
              <a:spcAft>
                <a:spcPts val="800"/>
              </a:spcAft>
              <a:buSzPct val="100000"/>
              <a:buChar char="•"/>
            </a:pPr>
            <a:r>
              <a:rPr lang="en-US" sz="1400" dirty="0">
                <a:solidFill>
                  <a:schemeClr val="tx1"/>
                </a:solidFill>
              </a:rPr>
              <a:t>Reports are SQL views, always up to date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27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3200" b="1" dirty="0">
                <a:solidFill>
                  <a:schemeClr val="tx2"/>
                </a:solidFill>
              </a:rPr>
              <a:t>ER diagram: 16 entities around one request</a:t>
            </a:r>
            <a:endParaRPr lang="en-US" sz="3200" dirty="0"/>
          </a:p>
        </p:txBody>
      </p:sp>
      <p:pic>
        <p:nvPicPr>
          <p:cNvPr id="4" name="Image 0" descr="ER diagram">    </p:cNvPr>
          <p:cNvPicPr>
            <a:picLocks noChangeAspect="1"/>
          </p:cNvPicPr>
          <p:nvPr/>
        </p:nvPicPr>
        <p:blipFill>
          <a:blip r:embed="rId1"/>
          <a:stretch>
            <a:fillRect/>
          </a:stretch>
        </p:blipFill>
        <p:spPr>
          <a:xfrm>
            <a:off x="1005840" y="868680"/>
            <a:ext cx="3749040" cy="3829999"/>
          </a:xfrm>
          <a:prstGeom prst="rect">
            <a:avLst/>
          </a:prstGeom>
        </p:spPr>
      </p:pic>
      <p:sp>
        <p:nvSpPr>
          <p:cNvPr id="5" name="card"/>
          <p:cNvSpPr/>
          <p:nvPr/>
        </p:nvSpPr>
        <p:spPr>
          <a:xfrm>
            <a:off x="5303520" y="1143000"/>
            <a:ext cx="3383280" cy="1005840"/>
          </a:xfrm>
          <a:prstGeom prst="roundRect">
            <a:avLst>
              <a:gd name="adj" fmla="val 7273"/>
            </a:avLst>
          </a:prstGeom>
          <a:solidFill>
            <a:srgbClr val="F3F5F7"/>
          </a:solidFill>
          <a:ln w="9525">
            <a:solidFill>
              <a:srgbClr val="DFE5EA"/>
            </a:solidFill>
            <a:prstDash val="solid"/>
          </a:ln>
        </p:spPr>
      </p:sp>
      <p:sp>
        <p:nvSpPr>
          <p:cNvPr id="6" name="Text 2"/>
          <p:cNvSpPr txBox="1"/>
          <p:nvPr/>
        </p:nvSpPr>
        <p:spPr>
          <a:xfrm>
            <a:off x="5440680" y="1143000"/>
            <a:ext cx="3108960" cy="1005840"/>
          </a:xfrm>
          <a:prstGeom prst="rect">
            <a:avLst/>
          </a:prstGeom>
          <a:noFill/>
          <a:ln/>
        </p:spPr>
        <p:txBody>
          <a:bodyPr wrap="square" lIns="0" tIns="0" rIns="0" bIns="0" rtlCol="0" anchor="ctr"/>
          <a:lstStyle/>
          <a:p>
            <a:pPr indent="0" marL="0">
              <a:buNone/>
            </a:pPr>
            <a:r>
              <a:rPr lang="en-US" sz="1500" b="1" dirty="0">
                <a:solidFill>
                  <a:schemeClr val="tx2"/>
                </a:solidFill>
              </a:rPr>
              <a:t>Central entity</a:t>
            </a:r>
            <a:endParaRPr lang="en-US" sz="1500" dirty="0"/>
          </a:p>
          <a:p>
            <a:pPr indent="0" marL="0">
              <a:buNone/>
            </a:pPr>
            <a:r>
              <a:rPr lang="en-US" sz="1300" dirty="0">
                <a:solidFill>
                  <a:schemeClr val="tx1"/>
                </a:solidFill>
              </a:rPr>
              <a:t>Maintenance Request links user, room, asset, category, priority</a:t>
            </a:r>
            <a:endParaRPr lang="en-US" sz="1500" dirty="0"/>
          </a:p>
        </p:txBody>
      </p:sp>
      <p:sp>
        <p:nvSpPr>
          <p:cNvPr id="7" name="card"/>
          <p:cNvSpPr/>
          <p:nvPr/>
        </p:nvSpPr>
        <p:spPr>
          <a:xfrm>
            <a:off x="5303520" y="2331720"/>
            <a:ext cx="3383280" cy="1005840"/>
          </a:xfrm>
          <a:prstGeom prst="roundRect">
            <a:avLst>
              <a:gd name="adj" fmla="val 7273"/>
            </a:avLst>
          </a:prstGeom>
          <a:solidFill>
            <a:srgbClr val="F3F5F7"/>
          </a:solidFill>
          <a:ln w="9525">
            <a:solidFill>
              <a:srgbClr val="DFE5EA"/>
            </a:solidFill>
            <a:prstDash val="solid"/>
          </a:ln>
        </p:spPr>
      </p:sp>
      <p:sp>
        <p:nvSpPr>
          <p:cNvPr id="8" name="Text 4"/>
          <p:cNvSpPr txBox="1"/>
          <p:nvPr/>
        </p:nvSpPr>
        <p:spPr>
          <a:xfrm>
            <a:off x="5440680" y="2331720"/>
            <a:ext cx="3108960" cy="1005840"/>
          </a:xfrm>
          <a:prstGeom prst="rect">
            <a:avLst/>
          </a:prstGeom>
          <a:noFill/>
          <a:ln/>
        </p:spPr>
        <p:txBody>
          <a:bodyPr wrap="square" lIns="0" tIns="0" rIns="0" bIns="0" rtlCol="0" anchor="ctr"/>
          <a:lstStyle/>
          <a:p>
            <a:pPr indent="0" marL="0">
              <a:buNone/>
            </a:pPr>
            <a:r>
              <a:rPr lang="en-US" sz="1500" b="1" dirty="0">
                <a:solidFill>
                  <a:schemeClr val="tx2"/>
                </a:solidFill>
              </a:rPr>
              <a:t>Associative entity</a:t>
            </a:r>
            <a:endParaRPr lang="en-US" sz="1500" dirty="0"/>
          </a:p>
          <a:p>
            <a:pPr indent="0" marL="0">
              <a:buNone/>
            </a:pPr>
            <a:r>
              <a:rPr lang="en-US" sz="1300" dirty="0">
                <a:solidFill>
                  <a:schemeClr val="tx1"/>
                </a:solidFill>
              </a:rPr>
              <a:t>Request Material resolves the M:N between request and material</a:t>
            </a:r>
            <a:endParaRPr lang="en-US" sz="1500" dirty="0"/>
          </a:p>
        </p:txBody>
      </p:sp>
      <p:sp>
        <p:nvSpPr>
          <p:cNvPr id="9" name="card"/>
          <p:cNvSpPr/>
          <p:nvPr/>
        </p:nvSpPr>
        <p:spPr>
          <a:xfrm>
            <a:off x="5303520" y="3520440"/>
            <a:ext cx="3383280" cy="1005840"/>
          </a:xfrm>
          <a:prstGeom prst="roundRect">
            <a:avLst>
              <a:gd name="adj" fmla="val 7273"/>
            </a:avLst>
          </a:prstGeom>
          <a:solidFill>
            <a:srgbClr val="F3F5F7"/>
          </a:solidFill>
          <a:ln w="9525">
            <a:solidFill>
              <a:srgbClr val="DFE5EA"/>
            </a:solidFill>
            <a:prstDash val="solid"/>
          </a:ln>
        </p:spPr>
      </p:sp>
      <p:sp>
        <p:nvSpPr>
          <p:cNvPr id="10" name="Text 6"/>
          <p:cNvSpPr txBox="1"/>
          <p:nvPr/>
        </p:nvSpPr>
        <p:spPr>
          <a:xfrm>
            <a:off x="5440680" y="3520440"/>
            <a:ext cx="3108960" cy="1005840"/>
          </a:xfrm>
          <a:prstGeom prst="rect">
            <a:avLst/>
          </a:prstGeom>
          <a:noFill/>
          <a:ln/>
        </p:spPr>
        <p:txBody>
          <a:bodyPr wrap="square" lIns="0" tIns="0" rIns="0" bIns="0" rtlCol="0" anchor="ctr"/>
          <a:lstStyle/>
          <a:p>
            <a:pPr indent="0" marL="0">
              <a:buNone/>
            </a:pPr>
            <a:r>
              <a:rPr lang="en-US" sz="1500" b="1" dirty="0">
                <a:solidFill>
                  <a:schemeClr val="tx2"/>
                </a:solidFill>
              </a:rPr>
              <a:t>Audit and control</a:t>
            </a:r>
            <a:endParaRPr lang="en-US" sz="1500" dirty="0"/>
          </a:p>
          <a:p>
            <a:pPr indent="0" marL="0">
              <a:buNone/>
            </a:pPr>
            <a:r>
              <a:rPr lang="en-US" sz="1300" dirty="0">
                <a:solidFill>
                  <a:schemeClr val="tx1"/>
                </a:solidFill>
              </a:rPr>
              <a:t>Status History and Status Transition drive the workflow</a:t>
            </a:r>
            <a:endParaRPr lang="en-US" sz="1500" dirty="0"/>
          </a:p>
        </p:txBody>
      </p:sp>
      <p:sp>
        <p:nvSpPr>
          <p:cNvPr id="11" name="Text 7"/>
          <p:cNvSpPr txBox="1"/>
          <p:nvPr/>
        </p:nvSpPr>
        <p:spPr>
          <a:xfrm>
            <a:off x="457200" y="4846320"/>
            <a:ext cx="4754880" cy="228600"/>
          </a:xfrm>
          <a:prstGeom prst="rect">
            <a:avLst/>
          </a:prstGeom>
          <a:noFill/>
          <a:ln/>
        </p:spPr>
        <p:txBody>
          <a:bodyPr wrap="square" lIns="0" tIns="0" rIns="0" bIns="0" rtlCol="0" anchor="ctr"/>
          <a:lstStyle/>
          <a:p>
            <a:pPr indent="0" marL="0">
              <a:buNone/>
            </a:pPr>
            <a:r>
              <a:rPr lang="en-US" sz="1000" dirty="0">
                <a:solidFill>
                  <a:srgbClr val="64727F"/>
                </a:solidFill>
              </a:rPr>
              <a:t>Crow's-foot notation; circle = optional participation</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27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3200" b="1" dirty="0">
                <a:solidFill>
                  <a:schemeClr val="tx2"/>
                </a:solidFill>
              </a:rPr>
              <a:t>Normalised to Third Normal Form</a:t>
            </a:r>
            <a:endParaRPr lang="en-US" sz="3200" dirty="0"/>
          </a:p>
        </p:txBody>
      </p:sp>
      <p:sp>
        <p:nvSpPr>
          <p:cNvPr id="4" name="card"/>
          <p:cNvSpPr/>
          <p:nvPr/>
        </p:nvSpPr>
        <p:spPr>
          <a:xfrm>
            <a:off x="457200" y="1280160"/>
            <a:ext cx="1920240" cy="2011680"/>
          </a:xfrm>
          <a:prstGeom prst="roundRect">
            <a:avLst>
              <a:gd name="adj" fmla="val 3810"/>
            </a:avLst>
          </a:prstGeom>
          <a:solidFill>
            <a:srgbClr val="F3F5F7"/>
          </a:solidFill>
          <a:ln w="9525">
            <a:solidFill>
              <a:srgbClr val="DFE5EA"/>
            </a:solidFill>
            <a:prstDash val="solid"/>
          </a:ln>
        </p:spPr>
      </p:sp>
      <p:sp>
        <p:nvSpPr>
          <p:cNvPr id="5" name="Text 2"/>
          <p:cNvSpPr txBox="1"/>
          <p:nvPr/>
        </p:nvSpPr>
        <p:spPr>
          <a:xfrm>
            <a:off x="594360" y="1371600"/>
            <a:ext cx="1645920" cy="457200"/>
          </a:xfrm>
          <a:prstGeom prst="rect">
            <a:avLst/>
          </a:prstGeom>
          <a:noFill/>
          <a:ln/>
        </p:spPr>
        <p:txBody>
          <a:bodyPr wrap="square" lIns="0" tIns="0" rIns="0" bIns="0" rtlCol="0" anchor="ctr"/>
          <a:lstStyle/>
          <a:p>
            <a:pPr indent="0" marL="0">
              <a:buNone/>
            </a:pPr>
            <a:r>
              <a:rPr lang="en-US" sz="1800" b="1" dirty="0">
                <a:solidFill>
                  <a:srgbClr val="64727F"/>
                </a:solidFill>
              </a:rPr>
              <a:t>Un-normalised</a:t>
            </a:r>
            <a:endParaRPr lang="en-US" sz="1800" dirty="0"/>
          </a:p>
        </p:txBody>
      </p:sp>
      <p:sp>
        <p:nvSpPr>
          <p:cNvPr id="6" name="Text 3"/>
          <p:cNvSpPr txBox="1"/>
          <p:nvPr/>
        </p:nvSpPr>
        <p:spPr>
          <a:xfrm>
            <a:off x="594360" y="1874520"/>
            <a:ext cx="1645920" cy="1325880"/>
          </a:xfrm>
          <a:prstGeom prst="rect">
            <a:avLst/>
          </a:prstGeom>
          <a:noFill/>
          <a:ln/>
        </p:spPr>
        <p:txBody>
          <a:bodyPr wrap="square" lIns="0" tIns="0" rIns="0" bIns="0" rtlCol="0" anchor="t"/>
          <a:lstStyle/>
          <a:p>
            <a:pPr indent="0" marL="0">
              <a:buNone/>
            </a:pPr>
            <a:r>
              <a:rPr lang="en-US" sz="1300" dirty="0">
                <a:solidFill>
                  <a:schemeClr val="tx1"/>
                </a:solidFill>
              </a:rPr>
              <a:t>One register with repeating work, material and status entries</a:t>
            </a:r>
            <a:endParaRPr lang="en-US" sz="1300" dirty="0"/>
          </a:p>
        </p:txBody>
      </p:sp>
      <p:sp>
        <p:nvSpPr>
          <p:cNvPr id="7" name="Text 4"/>
          <p:cNvSpPr txBox="1"/>
          <p:nvPr/>
        </p:nvSpPr>
        <p:spPr>
          <a:xfrm>
            <a:off x="2359152" y="2103120"/>
            <a:ext cx="201168" cy="274320"/>
          </a:xfrm>
          <a:prstGeom prst="rect">
            <a:avLst/>
          </a:prstGeom>
          <a:noFill/>
          <a:ln/>
        </p:spPr>
        <p:txBody>
          <a:bodyPr wrap="square" lIns="0" tIns="0" rIns="0" bIns="0" rtlCol="0" anchor="ctr"/>
          <a:lstStyle/>
          <a:p>
            <a:pPr algn="ctr" indent="0" marL="0">
              <a:buNone/>
            </a:pPr>
            <a:r>
              <a:rPr lang="en-US" sz="1100" dirty="0">
                <a:solidFill>
                  <a:srgbClr val="E36414"/>
                </a:solidFill>
              </a:rPr>
              <a:t>▶</a:t>
            </a:r>
            <a:endParaRPr lang="en-US" sz="1100" dirty="0"/>
          </a:p>
        </p:txBody>
      </p:sp>
      <p:sp>
        <p:nvSpPr>
          <p:cNvPr id="8" name="card"/>
          <p:cNvSpPr/>
          <p:nvPr/>
        </p:nvSpPr>
        <p:spPr>
          <a:xfrm>
            <a:off x="2542032" y="1280160"/>
            <a:ext cx="1920240" cy="2011680"/>
          </a:xfrm>
          <a:prstGeom prst="roundRect">
            <a:avLst>
              <a:gd name="adj" fmla="val 3810"/>
            </a:avLst>
          </a:prstGeom>
          <a:solidFill>
            <a:srgbClr val="F3F5F7"/>
          </a:solidFill>
          <a:ln w="9525">
            <a:solidFill>
              <a:srgbClr val="DFE5EA"/>
            </a:solidFill>
            <a:prstDash val="solid"/>
          </a:ln>
        </p:spPr>
      </p:sp>
      <p:sp>
        <p:nvSpPr>
          <p:cNvPr id="9" name="Text 6"/>
          <p:cNvSpPr txBox="1"/>
          <p:nvPr/>
        </p:nvSpPr>
        <p:spPr>
          <a:xfrm>
            <a:off x="2679192" y="1371600"/>
            <a:ext cx="1645920" cy="457200"/>
          </a:xfrm>
          <a:prstGeom prst="rect">
            <a:avLst/>
          </a:prstGeom>
          <a:noFill/>
          <a:ln/>
        </p:spPr>
        <p:txBody>
          <a:bodyPr wrap="square" lIns="0" tIns="0" rIns="0" bIns="0" rtlCol="0" anchor="ctr"/>
          <a:lstStyle/>
          <a:p>
            <a:pPr indent="0" marL="0">
              <a:buNone/>
            </a:pPr>
            <a:r>
              <a:rPr lang="en-US" sz="1800" b="1" dirty="0">
                <a:solidFill>
                  <a:srgbClr val="16697A"/>
                </a:solidFill>
              </a:rPr>
              <a:t>1NF</a:t>
            </a:r>
            <a:endParaRPr lang="en-US" sz="1800" dirty="0"/>
          </a:p>
        </p:txBody>
      </p:sp>
      <p:sp>
        <p:nvSpPr>
          <p:cNvPr id="10" name="Text 7"/>
          <p:cNvSpPr txBox="1"/>
          <p:nvPr/>
        </p:nvSpPr>
        <p:spPr>
          <a:xfrm>
            <a:off x="2679192" y="1874520"/>
            <a:ext cx="1645920" cy="1325880"/>
          </a:xfrm>
          <a:prstGeom prst="rect">
            <a:avLst/>
          </a:prstGeom>
          <a:noFill/>
          <a:ln/>
        </p:spPr>
        <p:txBody>
          <a:bodyPr wrap="square" lIns="0" tIns="0" rIns="0" bIns="0" rtlCol="0" anchor="t"/>
          <a:lstStyle/>
          <a:p>
            <a:pPr indent="0" marL="0">
              <a:buNone/>
            </a:pPr>
            <a:r>
              <a:rPr lang="en-US" sz="1300" dirty="0">
                <a:solidFill>
                  <a:schemeClr val="tx1"/>
                </a:solidFill>
              </a:rPr>
              <a:t>Repeating groups moved to separate tables; atomic columns</a:t>
            </a:r>
            <a:endParaRPr lang="en-US" sz="1300" dirty="0"/>
          </a:p>
        </p:txBody>
      </p:sp>
      <p:sp>
        <p:nvSpPr>
          <p:cNvPr id="11" name="Text 8"/>
          <p:cNvSpPr txBox="1"/>
          <p:nvPr/>
        </p:nvSpPr>
        <p:spPr>
          <a:xfrm>
            <a:off x="4443984" y="2103120"/>
            <a:ext cx="201168" cy="274320"/>
          </a:xfrm>
          <a:prstGeom prst="rect">
            <a:avLst/>
          </a:prstGeom>
          <a:noFill/>
          <a:ln/>
        </p:spPr>
        <p:txBody>
          <a:bodyPr wrap="square" lIns="0" tIns="0" rIns="0" bIns="0" rtlCol="0" anchor="ctr"/>
          <a:lstStyle/>
          <a:p>
            <a:pPr algn="ctr" indent="0" marL="0">
              <a:buNone/>
            </a:pPr>
            <a:r>
              <a:rPr lang="en-US" sz="1100" dirty="0">
                <a:solidFill>
                  <a:srgbClr val="E36414"/>
                </a:solidFill>
              </a:rPr>
              <a:t>▶</a:t>
            </a:r>
            <a:endParaRPr lang="en-US" sz="1100" dirty="0"/>
          </a:p>
        </p:txBody>
      </p:sp>
      <p:sp>
        <p:nvSpPr>
          <p:cNvPr id="12" name="card"/>
          <p:cNvSpPr/>
          <p:nvPr/>
        </p:nvSpPr>
        <p:spPr>
          <a:xfrm>
            <a:off x="4626864" y="1280160"/>
            <a:ext cx="1920240" cy="2011680"/>
          </a:xfrm>
          <a:prstGeom prst="roundRect">
            <a:avLst>
              <a:gd name="adj" fmla="val 3810"/>
            </a:avLst>
          </a:prstGeom>
          <a:solidFill>
            <a:srgbClr val="F3F5F7"/>
          </a:solidFill>
          <a:ln w="9525">
            <a:solidFill>
              <a:srgbClr val="DFE5EA"/>
            </a:solidFill>
            <a:prstDash val="solid"/>
          </a:ln>
        </p:spPr>
      </p:sp>
      <p:sp>
        <p:nvSpPr>
          <p:cNvPr id="13" name="Text 10"/>
          <p:cNvSpPr txBox="1"/>
          <p:nvPr/>
        </p:nvSpPr>
        <p:spPr>
          <a:xfrm>
            <a:off x="4764024" y="1371600"/>
            <a:ext cx="1645920" cy="457200"/>
          </a:xfrm>
          <a:prstGeom prst="rect">
            <a:avLst/>
          </a:prstGeom>
          <a:noFill/>
          <a:ln/>
        </p:spPr>
        <p:txBody>
          <a:bodyPr wrap="square" lIns="0" tIns="0" rIns="0" bIns="0" rtlCol="0" anchor="ctr"/>
          <a:lstStyle/>
          <a:p>
            <a:pPr indent="0" marL="0">
              <a:buNone/>
            </a:pPr>
            <a:r>
              <a:rPr lang="en-US" sz="1800" b="1" dirty="0">
                <a:solidFill>
                  <a:srgbClr val="16697A"/>
                </a:solidFill>
              </a:rPr>
              <a:t>2NF</a:t>
            </a:r>
            <a:endParaRPr lang="en-US" sz="1800" dirty="0"/>
          </a:p>
        </p:txBody>
      </p:sp>
      <p:sp>
        <p:nvSpPr>
          <p:cNvPr id="14" name="Text 11"/>
          <p:cNvSpPr txBox="1"/>
          <p:nvPr/>
        </p:nvSpPr>
        <p:spPr>
          <a:xfrm>
            <a:off x="4764024" y="1874520"/>
            <a:ext cx="1645920" cy="1325880"/>
          </a:xfrm>
          <a:prstGeom prst="rect">
            <a:avLst/>
          </a:prstGeom>
          <a:noFill/>
          <a:ln/>
        </p:spPr>
        <p:txBody>
          <a:bodyPr wrap="square" lIns="0" tIns="0" rIns="0" bIns="0" rtlCol="0" anchor="t"/>
          <a:lstStyle/>
          <a:p>
            <a:pPr indent="0" marL="0">
              <a:buNone/>
            </a:pPr>
            <a:r>
              <a:rPr lang="en-US" sz="1300" dirty="0">
                <a:solidFill>
                  <a:schemeClr val="tx1"/>
                </a:solidFill>
              </a:rPr>
              <a:t>Material facts separated from the (request, material) pair</a:t>
            </a:r>
            <a:endParaRPr lang="en-US" sz="1300" dirty="0"/>
          </a:p>
        </p:txBody>
      </p:sp>
      <p:sp>
        <p:nvSpPr>
          <p:cNvPr id="15" name="Text 12"/>
          <p:cNvSpPr txBox="1"/>
          <p:nvPr/>
        </p:nvSpPr>
        <p:spPr>
          <a:xfrm>
            <a:off x="6528816" y="2103120"/>
            <a:ext cx="201168" cy="274320"/>
          </a:xfrm>
          <a:prstGeom prst="rect">
            <a:avLst/>
          </a:prstGeom>
          <a:noFill/>
          <a:ln/>
        </p:spPr>
        <p:txBody>
          <a:bodyPr wrap="square" lIns="0" tIns="0" rIns="0" bIns="0" rtlCol="0" anchor="ctr"/>
          <a:lstStyle/>
          <a:p>
            <a:pPr algn="ctr" indent="0" marL="0">
              <a:buNone/>
            </a:pPr>
            <a:r>
              <a:rPr lang="en-US" sz="1100" dirty="0">
                <a:solidFill>
                  <a:srgbClr val="E36414"/>
                </a:solidFill>
              </a:rPr>
              <a:t>▶</a:t>
            </a:r>
            <a:endParaRPr lang="en-US" sz="1100" dirty="0"/>
          </a:p>
        </p:txBody>
      </p:sp>
      <p:sp>
        <p:nvSpPr>
          <p:cNvPr id="16" name="card"/>
          <p:cNvSpPr/>
          <p:nvPr/>
        </p:nvSpPr>
        <p:spPr>
          <a:xfrm>
            <a:off x="6711696" y="1280160"/>
            <a:ext cx="1920240" cy="2011680"/>
          </a:xfrm>
          <a:prstGeom prst="roundRect">
            <a:avLst>
              <a:gd name="adj" fmla="val 3810"/>
            </a:avLst>
          </a:prstGeom>
          <a:solidFill>
            <a:srgbClr val="E6F1F3"/>
          </a:solidFill>
          <a:ln w="9525">
            <a:solidFill>
              <a:srgbClr val="DFE5EA"/>
            </a:solidFill>
            <a:prstDash val="solid"/>
          </a:ln>
        </p:spPr>
      </p:sp>
      <p:sp>
        <p:nvSpPr>
          <p:cNvPr id="17" name="Text 14"/>
          <p:cNvSpPr txBox="1"/>
          <p:nvPr/>
        </p:nvSpPr>
        <p:spPr>
          <a:xfrm>
            <a:off x="6848856" y="1371600"/>
            <a:ext cx="1645920" cy="457200"/>
          </a:xfrm>
          <a:prstGeom prst="rect">
            <a:avLst/>
          </a:prstGeom>
          <a:noFill/>
          <a:ln/>
        </p:spPr>
        <p:txBody>
          <a:bodyPr wrap="square" lIns="0" tIns="0" rIns="0" bIns="0" rtlCol="0" anchor="ctr"/>
          <a:lstStyle/>
          <a:p>
            <a:pPr indent="0" marL="0">
              <a:buNone/>
            </a:pPr>
            <a:r>
              <a:rPr lang="en-US" sz="1800" b="1" dirty="0">
                <a:solidFill>
                  <a:srgbClr val="0F4C5C"/>
                </a:solidFill>
              </a:rPr>
              <a:t>3NF</a:t>
            </a:r>
            <a:endParaRPr lang="en-US" sz="1800" dirty="0"/>
          </a:p>
        </p:txBody>
      </p:sp>
      <p:sp>
        <p:nvSpPr>
          <p:cNvPr id="18" name="Text 15"/>
          <p:cNvSpPr txBox="1"/>
          <p:nvPr/>
        </p:nvSpPr>
        <p:spPr>
          <a:xfrm>
            <a:off x="6848856" y="1874520"/>
            <a:ext cx="1645920" cy="1325880"/>
          </a:xfrm>
          <a:prstGeom prst="rect">
            <a:avLst/>
          </a:prstGeom>
          <a:noFill/>
          <a:ln/>
        </p:spPr>
        <p:txBody>
          <a:bodyPr wrap="square" lIns="0" tIns="0" rIns="0" bIns="0" rtlCol="0" anchor="t"/>
          <a:lstStyle/>
          <a:p>
            <a:pPr indent="0" marL="0">
              <a:buNone/>
            </a:pPr>
            <a:r>
              <a:rPr lang="en-US" sz="1300" dirty="0">
                <a:solidFill>
                  <a:schemeClr val="tx1"/>
                </a:solidFill>
              </a:rPr>
              <a:t>Room → Building, Priority → SLA, Technician → Category held once</a:t>
            </a:r>
            <a:endParaRPr lang="en-US" sz="1300" dirty="0"/>
          </a:p>
        </p:txBody>
      </p:sp>
      <p:sp>
        <p:nvSpPr>
          <p:cNvPr id="19" name="Text 16"/>
          <p:cNvSpPr txBox="1"/>
          <p:nvPr/>
        </p:nvSpPr>
        <p:spPr>
          <a:xfrm>
            <a:off x="457200" y="3657600"/>
            <a:ext cx="8229600" cy="640080"/>
          </a:xfrm>
          <a:prstGeom prst="rect">
            <a:avLst/>
          </a:prstGeom>
          <a:noFill/>
          <a:ln/>
        </p:spPr>
        <p:txBody>
          <a:bodyPr wrap="square" lIns="0" tIns="0" rIns="0" bIns="0" rtlCol="0" anchor="ctr"/>
          <a:lstStyle/>
          <a:p>
            <a:pPr indent="0" marL="0">
              <a:buNone/>
            </a:pPr>
            <a:r>
              <a:rPr lang="en-US" sz="1600" b="1" dirty="0">
                <a:solidFill>
                  <a:srgbClr val="E36414"/>
                </a:solidFill>
              </a:rPr>
              <a:t>Design choice: </a:t>
            </a:r>
            <a:pPr indent="0" marL="0">
              <a:buNone/>
            </a:pPr>
            <a:r>
              <a:rPr lang="en-US" sz="1600" dirty="0">
                <a:solidFill>
                  <a:schemeClr val="tx1"/>
                </a:solidFill>
              </a:rPr>
              <a:t>costs are derived by a view, never stored as totals – no redundancy, no update anomalies.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27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3200" b="1" dirty="0">
                <a:solidFill>
                  <a:schemeClr val="tx2"/>
                </a:solidFill>
              </a:rPr>
              <a:t>Five rules enforced by the database</a:t>
            </a:r>
            <a:endParaRPr lang="en-US" sz="3200" dirty="0"/>
          </a:p>
        </p:txBody>
      </p:sp>
      <p:sp>
        <p:nvSpPr>
          <p:cNvPr id="4" name="card"/>
          <p:cNvSpPr/>
          <p:nvPr/>
        </p:nvSpPr>
        <p:spPr>
          <a:xfrm>
            <a:off x="457200" y="1143000"/>
            <a:ext cx="4023360" cy="960120"/>
          </a:xfrm>
          <a:prstGeom prst="roundRect">
            <a:avLst>
              <a:gd name="adj" fmla="val 7619"/>
            </a:avLst>
          </a:prstGeom>
          <a:solidFill>
            <a:srgbClr val="F3F5F7"/>
          </a:solidFill>
          <a:ln w="9525">
            <a:solidFill>
              <a:srgbClr val="DFE5EA"/>
            </a:solidFill>
            <a:prstDash val="solid"/>
          </a:ln>
        </p:spPr>
      </p:sp>
      <p:sp>
        <p:nvSpPr>
          <p:cNvPr id="5" name="badge"/>
          <p:cNvSpPr/>
          <p:nvPr/>
        </p:nvSpPr>
        <p:spPr>
          <a:xfrm>
            <a:off x="640080" y="1389888"/>
            <a:ext cx="457200" cy="457200"/>
          </a:xfrm>
          <a:prstGeom prst="ellipse">
            <a:avLst/>
          </a:prstGeom>
          <a:solidFill>
            <a:srgbClr val="E36414"/>
          </a:solidFill>
          <a:ln w="12700">
            <a:solidFill>
              <a:srgbClr val="E36414"/>
            </a:solidFill>
            <a:prstDash val="solid"/>
          </a:ln>
        </p:spPr>
      </p:sp>
      <p:sp>
        <p:nvSpPr>
          <p:cNvPr id="6" name="Text 3"/>
          <p:cNvSpPr txBox="1"/>
          <p:nvPr/>
        </p:nvSpPr>
        <p:spPr>
          <a:xfrm>
            <a:off x="640080" y="13898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4"/>
          <p:cNvSpPr txBox="1"/>
          <p:nvPr/>
        </p:nvSpPr>
        <p:spPr>
          <a:xfrm>
            <a:off x="1280160" y="1143000"/>
            <a:ext cx="3108960" cy="960120"/>
          </a:xfrm>
          <a:prstGeom prst="rect">
            <a:avLst/>
          </a:prstGeom>
          <a:noFill/>
          <a:ln/>
        </p:spPr>
        <p:txBody>
          <a:bodyPr wrap="square" lIns="0" tIns="0" rIns="0" bIns="0" rtlCol="0" anchor="ctr"/>
          <a:lstStyle/>
          <a:p>
            <a:pPr indent="0" marL="0">
              <a:buNone/>
            </a:pPr>
            <a:r>
              <a:rPr lang="en-US" sz="1600" b="1" dirty="0">
                <a:solidFill>
                  <a:schemeClr val="tx2"/>
                </a:solidFill>
              </a:rPr>
              <a:t>Unique request numbers</a:t>
            </a:r>
            <a:endParaRPr lang="en-US" sz="1600" dirty="0"/>
          </a:p>
          <a:p>
            <a:pPr indent="0" marL="0">
              <a:buNone/>
            </a:pPr>
            <a:r>
              <a:rPr lang="en-US" sz="1300" dirty="0">
                <a:solidFill>
                  <a:srgbClr val="64727F"/>
                </a:solidFill>
              </a:rPr>
              <a:t>UNIQUE(request_no)</a:t>
            </a:r>
            <a:endParaRPr lang="en-US" sz="1600" dirty="0"/>
          </a:p>
        </p:txBody>
      </p:sp>
      <p:sp>
        <p:nvSpPr>
          <p:cNvPr id="8" name="card"/>
          <p:cNvSpPr/>
          <p:nvPr/>
        </p:nvSpPr>
        <p:spPr>
          <a:xfrm>
            <a:off x="457200" y="2240280"/>
            <a:ext cx="4023360" cy="960120"/>
          </a:xfrm>
          <a:prstGeom prst="roundRect">
            <a:avLst>
              <a:gd name="adj" fmla="val 7619"/>
            </a:avLst>
          </a:prstGeom>
          <a:solidFill>
            <a:srgbClr val="F3F5F7"/>
          </a:solidFill>
          <a:ln w="9525">
            <a:solidFill>
              <a:srgbClr val="DFE5EA"/>
            </a:solidFill>
            <a:prstDash val="solid"/>
          </a:ln>
        </p:spPr>
      </p:sp>
      <p:sp>
        <p:nvSpPr>
          <p:cNvPr id="9" name="badge"/>
          <p:cNvSpPr/>
          <p:nvPr/>
        </p:nvSpPr>
        <p:spPr>
          <a:xfrm>
            <a:off x="640080" y="2487168"/>
            <a:ext cx="457200" cy="457200"/>
          </a:xfrm>
          <a:prstGeom prst="ellipse">
            <a:avLst/>
          </a:prstGeom>
          <a:solidFill>
            <a:srgbClr val="16697A"/>
          </a:solidFill>
          <a:ln w="12700">
            <a:solidFill>
              <a:srgbClr val="16697A"/>
            </a:solidFill>
            <a:prstDash val="solid"/>
          </a:ln>
        </p:spPr>
      </p:sp>
      <p:sp>
        <p:nvSpPr>
          <p:cNvPr id="10" name="Text 7"/>
          <p:cNvSpPr txBox="1"/>
          <p:nvPr/>
        </p:nvSpPr>
        <p:spPr>
          <a:xfrm>
            <a:off x="640080" y="24871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1280160" y="2240280"/>
            <a:ext cx="3108960" cy="960120"/>
          </a:xfrm>
          <a:prstGeom prst="rect">
            <a:avLst/>
          </a:prstGeom>
          <a:noFill/>
          <a:ln/>
        </p:spPr>
        <p:txBody>
          <a:bodyPr wrap="square" lIns="0" tIns="0" rIns="0" bIns="0" rtlCol="0" anchor="ctr"/>
          <a:lstStyle/>
          <a:p>
            <a:pPr indent="0" marL="0">
              <a:buNone/>
            </a:pPr>
            <a:r>
              <a:rPr lang="en-US" sz="1600" b="1" dirty="0">
                <a:solidFill>
                  <a:schemeClr val="tx2"/>
                </a:solidFill>
              </a:rPr>
              <a:t>Closure details required</a:t>
            </a:r>
            <a:endParaRPr lang="en-US" sz="1600" dirty="0"/>
          </a:p>
          <a:p>
            <a:pPr indent="0" marL="0">
              <a:buNone/>
            </a:pPr>
            <a:r>
              <a:rPr lang="en-US" sz="1300" dirty="0">
                <a:solidFill>
                  <a:srgbClr val="64727F"/>
                </a:solidFill>
              </a:rPr>
              <a:t>Table-level CHECK on status, closed_at, remarks</a:t>
            </a:r>
            <a:endParaRPr lang="en-US" sz="1600" dirty="0"/>
          </a:p>
        </p:txBody>
      </p:sp>
      <p:sp>
        <p:nvSpPr>
          <p:cNvPr id="12" name="card"/>
          <p:cNvSpPr/>
          <p:nvPr/>
        </p:nvSpPr>
        <p:spPr>
          <a:xfrm>
            <a:off x="457200" y="3337560"/>
            <a:ext cx="4023360" cy="960120"/>
          </a:xfrm>
          <a:prstGeom prst="roundRect">
            <a:avLst>
              <a:gd name="adj" fmla="val 7619"/>
            </a:avLst>
          </a:prstGeom>
          <a:solidFill>
            <a:srgbClr val="F3F5F7"/>
          </a:solidFill>
          <a:ln w="9525">
            <a:solidFill>
              <a:srgbClr val="DFE5EA"/>
            </a:solidFill>
            <a:prstDash val="solid"/>
          </a:ln>
        </p:spPr>
      </p:sp>
      <p:sp>
        <p:nvSpPr>
          <p:cNvPr id="13" name="badge"/>
          <p:cNvSpPr/>
          <p:nvPr/>
        </p:nvSpPr>
        <p:spPr>
          <a:xfrm>
            <a:off x="640080" y="3584448"/>
            <a:ext cx="457200" cy="457200"/>
          </a:xfrm>
          <a:prstGeom prst="ellipse">
            <a:avLst/>
          </a:prstGeom>
          <a:solidFill>
            <a:srgbClr val="E36414"/>
          </a:solidFill>
          <a:ln w="12700">
            <a:solidFill>
              <a:srgbClr val="E36414"/>
            </a:solidFill>
            <a:prstDash val="solid"/>
          </a:ln>
        </p:spPr>
      </p:sp>
      <p:sp>
        <p:nvSpPr>
          <p:cNvPr id="14" name="Text 11"/>
          <p:cNvSpPr txBox="1"/>
          <p:nvPr/>
        </p:nvSpPr>
        <p:spPr>
          <a:xfrm>
            <a:off x="640080" y="35844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2"/>
          <p:cNvSpPr txBox="1"/>
          <p:nvPr/>
        </p:nvSpPr>
        <p:spPr>
          <a:xfrm>
            <a:off x="1280160" y="3337560"/>
            <a:ext cx="3108960" cy="960120"/>
          </a:xfrm>
          <a:prstGeom prst="rect">
            <a:avLst/>
          </a:prstGeom>
          <a:noFill/>
          <a:ln/>
        </p:spPr>
        <p:txBody>
          <a:bodyPr wrap="square" lIns="0" tIns="0" rIns="0" bIns="0" rtlCol="0" anchor="ctr"/>
          <a:lstStyle/>
          <a:p>
            <a:pPr indent="0" marL="0">
              <a:buNone/>
            </a:pPr>
            <a:r>
              <a:rPr lang="en-US" sz="1600" b="1" dirty="0">
                <a:solidFill>
                  <a:schemeClr val="tx2"/>
                </a:solidFill>
              </a:rPr>
              <a:t>Non-negative materials and costs</a:t>
            </a:r>
            <a:endParaRPr lang="en-US" sz="1600" dirty="0"/>
          </a:p>
          <a:p>
            <a:pPr indent="0" marL="0">
              <a:buNone/>
            </a:pPr>
            <a:r>
              <a:rPr lang="en-US" sz="1300" dirty="0">
                <a:solidFill>
                  <a:srgbClr val="64727F"/>
                </a:solidFill>
              </a:rPr>
              <a:t>CHECK quantity &gt; 0, amount ≥ 0, stock ≥ 0</a:t>
            </a:r>
            <a:endParaRPr lang="en-US" sz="1600" dirty="0"/>
          </a:p>
        </p:txBody>
      </p:sp>
      <p:sp>
        <p:nvSpPr>
          <p:cNvPr id="16" name="card"/>
          <p:cNvSpPr/>
          <p:nvPr/>
        </p:nvSpPr>
        <p:spPr>
          <a:xfrm>
            <a:off x="4663440" y="1143000"/>
            <a:ext cx="4023360" cy="960120"/>
          </a:xfrm>
          <a:prstGeom prst="roundRect">
            <a:avLst>
              <a:gd name="adj" fmla="val 7619"/>
            </a:avLst>
          </a:prstGeom>
          <a:solidFill>
            <a:srgbClr val="F3F5F7"/>
          </a:solidFill>
          <a:ln w="9525">
            <a:solidFill>
              <a:srgbClr val="DFE5EA"/>
            </a:solidFill>
            <a:prstDash val="solid"/>
          </a:ln>
        </p:spPr>
      </p:sp>
      <p:sp>
        <p:nvSpPr>
          <p:cNvPr id="17" name="badge"/>
          <p:cNvSpPr/>
          <p:nvPr/>
        </p:nvSpPr>
        <p:spPr>
          <a:xfrm>
            <a:off x="4846320" y="1389888"/>
            <a:ext cx="457200" cy="457200"/>
          </a:xfrm>
          <a:prstGeom prst="ellipse">
            <a:avLst/>
          </a:prstGeom>
          <a:solidFill>
            <a:srgbClr val="16697A"/>
          </a:solidFill>
          <a:ln w="12700">
            <a:solidFill>
              <a:srgbClr val="16697A"/>
            </a:solidFill>
            <a:prstDash val="solid"/>
          </a:ln>
        </p:spPr>
      </p:sp>
      <p:sp>
        <p:nvSpPr>
          <p:cNvPr id="18" name="Text 15"/>
          <p:cNvSpPr txBox="1"/>
          <p:nvPr/>
        </p:nvSpPr>
        <p:spPr>
          <a:xfrm>
            <a:off x="4846320" y="13898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9" name="Text 16"/>
          <p:cNvSpPr txBox="1"/>
          <p:nvPr/>
        </p:nvSpPr>
        <p:spPr>
          <a:xfrm>
            <a:off x="5486400" y="1143000"/>
            <a:ext cx="3108960" cy="960120"/>
          </a:xfrm>
          <a:prstGeom prst="rect">
            <a:avLst/>
          </a:prstGeom>
          <a:noFill/>
          <a:ln/>
        </p:spPr>
        <p:txBody>
          <a:bodyPr wrap="square" lIns="0" tIns="0" rIns="0" bIns="0" rtlCol="0" anchor="ctr"/>
          <a:lstStyle/>
          <a:p>
            <a:pPr indent="0" marL="0">
              <a:buNone/>
            </a:pPr>
            <a:r>
              <a:rPr lang="en-US" sz="1600" b="1" dirty="0">
                <a:solidFill>
                  <a:schemeClr val="tx2"/>
                </a:solidFill>
              </a:rPr>
              <a:t>Valid status transitions</a:t>
            </a:r>
            <a:endParaRPr lang="en-US" sz="1600" dirty="0"/>
          </a:p>
          <a:p>
            <a:pPr indent="0" marL="0">
              <a:buNone/>
            </a:pPr>
            <a:r>
              <a:rPr lang="en-US" sz="1300" dirty="0">
                <a:solidFill>
                  <a:srgbClr val="64727F"/>
                </a:solidFill>
              </a:rPr>
              <a:t>status_transition table + BEFORE UPDATE trigger</a:t>
            </a:r>
            <a:endParaRPr lang="en-US" sz="1600" dirty="0"/>
          </a:p>
        </p:txBody>
      </p:sp>
      <p:sp>
        <p:nvSpPr>
          <p:cNvPr id="20" name="card"/>
          <p:cNvSpPr/>
          <p:nvPr/>
        </p:nvSpPr>
        <p:spPr>
          <a:xfrm>
            <a:off x="4663440" y="2240280"/>
            <a:ext cx="4023360" cy="960120"/>
          </a:xfrm>
          <a:prstGeom prst="roundRect">
            <a:avLst>
              <a:gd name="adj" fmla="val 7619"/>
            </a:avLst>
          </a:prstGeom>
          <a:solidFill>
            <a:srgbClr val="F3F5F7"/>
          </a:solidFill>
          <a:ln w="9525">
            <a:solidFill>
              <a:srgbClr val="DFE5EA"/>
            </a:solidFill>
            <a:prstDash val="solid"/>
          </a:ln>
        </p:spPr>
      </p:sp>
      <p:sp>
        <p:nvSpPr>
          <p:cNvPr id="21" name="badge"/>
          <p:cNvSpPr/>
          <p:nvPr/>
        </p:nvSpPr>
        <p:spPr>
          <a:xfrm>
            <a:off x="4846320" y="2487168"/>
            <a:ext cx="457200" cy="457200"/>
          </a:xfrm>
          <a:prstGeom prst="ellipse">
            <a:avLst/>
          </a:prstGeom>
          <a:solidFill>
            <a:srgbClr val="E36414"/>
          </a:solidFill>
          <a:ln w="12700">
            <a:solidFill>
              <a:srgbClr val="E36414"/>
            </a:solidFill>
            <a:prstDash val="solid"/>
          </a:ln>
        </p:spPr>
      </p:sp>
      <p:sp>
        <p:nvSpPr>
          <p:cNvPr id="22" name="Text 19"/>
          <p:cNvSpPr txBox="1"/>
          <p:nvPr/>
        </p:nvSpPr>
        <p:spPr>
          <a:xfrm>
            <a:off x="4846320" y="24871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3" name="Text 20"/>
          <p:cNvSpPr txBox="1"/>
          <p:nvPr/>
        </p:nvSpPr>
        <p:spPr>
          <a:xfrm>
            <a:off x="5486400" y="2240280"/>
            <a:ext cx="3108960" cy="960120"/>
          </a:xfrm>
          <a:prstGeom prst="rect">
            <a:avLst/>
          </a:prstGeom>
          <a:noFill/>
          <a:ln/>
        </p:spPr>
        <p:txBody>
          <a:bodyPr wrap="square" lIns="0" tIns="0" rIns="0" bIns="0" rtlCol="0" anchor="ctr"/>
          <a:lstStyle/>
          <a:p>
            <a:pPr indent="0" marL="0">
              <a:buNone/>
            </a:pPr>
            <a:r>
              <a:rPr lang="en-US" sz="1600" b="1" dirty="0">
                <a:solidFill>
                  <a:schemeClr val="tx2"/>
                </a:solidFill>
              </a:rPr>
              <a:t>Assignment control</a:t>
            </a:r>
            <a:endParaRPr lang="en-US" sz="1600" dirty="0"/>
          </a:p>
          <a:p>
            <a:pPr indent="0" marL="0">
              <a:buNone/>
            </a:pPr>
            <a:r>
              <a:rPr lang="en-US" sz="1300" dirty="0">
                <a:solidFill>
                  <a:srgbClr val="64727F"/>
                </a:solidFill>
              </a:rPr>
              <a:t>Capacity trigger + one active technician per request</a:t>
            </a:r>
            <a:endParaRPr lang="en-US" sz="1600" dirty="0"/>
          </a:p>
        </p:txBody>
      </p:sp>
      <p:sp>
        <p:nvSpPr>
          <p:cNvPr id="24" name="card"/>
          <p:cNvSpPr/>
          <p:nvPr/>
        </p:nvSpPr>
        <p:spPr>
          <a:xfrm>
            <a:off x="4663440" y="3337560"/>
            <a:ext cx="4023360" cy="960120"/>
          </a:xfrm>
          <a:prstGeom prst="roundRect">
            <a:avLst>
              <a:gd name="adj" fmla="val 7619"/>
            </a:avLst>
          </a:prstGeom>
          <a:solidFill>
            <a:srgbClr val="E6F1F3"/>
          </a:solidFill>
          <a:ln w="9525">
            <a:solidFill>
              <a:srgbClr val="DFE5EA"/>
            </a:solidFill>
            <a:prstDash val="solid"/>
          </a:ln>
        </p:spPr>
      </p:sp>
      <p:sp>
        <p:nvSpPr>
          <p:cNvPr id="25" name="Text 22"/>
          <p:cNvSpPr txBox="1"/>
          <p:nvPr/>
        </p:nvSpPr>
        <p:spPr>
          <a:xfrm>
            <a:off x="4846320" y="3337560"/>
            <a:ext cx="3657600" cy="960120"/>
          </a:xfrm>
          <a:prstGeom prst="rect">
            <a:avLst/>
          </a:prstGeom>
          <a:noFill/>
          <a:ln/>
        </p:spPr>
        <p:txBody>
          <a:bodyPr wrap="square" lIns="0" tIns="0" rIns="0" bIns="0" rtlCol="0" anchor="ctr"/>
          <a:lstStyle/>
          <a:p>
            <a:pPr indent="0" marL="0">
              <a:buNone/>
            </a:pPr>
            <a:r>
              <a:rPr lang="en-US" sz="1400" b="1" dirty="0">
                <a:solidFill>
                  <a:srgbClr val="0F4C5C"/>
                </a:solidFill>
              </a:rPr>
              <a:t>Plus: </a:t>
            </a:r>
            <a:pPr indent="0" marL="0">
              <a:buNone/>
            </a:pPr>
            <a:r>
              <a:rPr lang="en-US" sz="1400" dirty="0">
                <a:solidFill>
                  <a:schemeClr val="tx1"/>
                </a:solidFill>
              </a:rPr>
              <a:t>stock check, feedback only after closure, delete guard, automatic status history</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27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3200" b="1" dirty="0">
                <a:solidFill>
                  <a:schemeClr val="tx2"/>
                </a:solidFill>
              </a:rPr>
              <a:t>A controlled request life cycle</a:t>
            </a:r>
            <a:endParaRPr lang="en-US" sz="3200" dirty="0"/>
          </a:p>
        </p:txBody>
      </p:sp>
      <p:pic>
        <p:nvPicPr>
          <p:cNvPr id="4" name="Image 0" descr="Status workflow diagram">    </p:cNvPr>
          <p:cNvPicPr>
            <a:picLocks noChangeAspect="1"/>
          </p:cNvPicPr>
          <p:nvPr/>
        </p:nvPicPr>
        <p:blipFill>
          <a:blip r:embed="rId1"/>
          <a:stretch>
            <a:fillRect/>
          </a:stretch>
        </p:blipFill>
        <p:spPr>
          <a:xfrm>
            <a:off x="457200" y="1188720"/>
            <a:ext cx="5486400" cy="2137363"/>
          </a:xfrm>
          <a:prstGeom prst="rect">
            <a:avLst/>
          </a:prstGeom>
        </p:spPr>
      </p:pic>
      <p:sp>
        <p:nvSpPr>
          <p:cNvPr id="5" name="Text 1"/>
          <p:cNvSpPr txBox="1"/>
          <p:nvPr/>
        </p:nvSpPr>
        <p:spPr>
          <a:xfrm>
            <a:off x="457200" y="3417523"/>
            <a:ext cx="5486400" cy="274320"/>
          </a:xfrm>
          <a:prstGeom prst="rect">
            <a:avLst/>
          </a:prstGeom>
          <a:noFill/>
          <a:ln/>
        </p:spPr>
        <p:txBody>
          <a:bodyPr wrap="square" lIns="0" tIns="0" rIns="0" bIns="0" rtlCol="0" anchor="ctr"/>
          <a:lstStyle/>
          <a:p>
            <a:pPr indent="0" marL="0">
              <a:buNone/>
            </a:pPr>
            <a:r>
              <a:rPr lang="en-US" sz="1100" dirty="0">
                <a:solidFill>
                  <a:srgbClr val="64727F"/>
                </a:solidFill>
              </a:rPr>
              <a:t>Generated from the status_transition table</a:t>
            </a:r>
            <a:endParaRPr lang="en-US" sz="1100" dirty="0"/>
          </a:p>
        </p:txBody>
      </p:sp>
      <p:sp>
        <p:nvSpPr>
          <p:cNvPr id="6" name="card"/>
          <p:cNvSpPr/>
          <p:nvPr/>
        </p:nvSpPr>
        <p:spPr>
          <a:xfrm>
            <a:off x="6217920" y="1188720"/>
            <a:ext cx="2468880" cy="3108960"/>
          </a:xfrm>
          <a:prstGeom prst="roundRect">
            <a:avLst>
              <a:gd name="adj" fmla="val 2963"/>
            </a:avLst>
          </a:prstGeom>
          <a:solidFill>
            <a:srgbClr val="F3F5F7"/>
          </a:solidFill>
          <a:ln w="9525">
            <a:solidFill>
              <a:srgbClr val="DFE5EA"/>
            </a:solidFill>
            <a:prstDash val="solid"/>
          </a:ln>
        </p:spPr>
      </p:sp>
      <p:sp>
        <p:nvSpPr>
          <p:cNvPr id="7" name="Text 3"/>
          <p:cNvSpPr txBox="1"/>
          <p:nvPr/>
        </p:nvSpPr>
        <p:spPr>
          <a:xfrm>
            <a:off x="6355080" y="1280160"/>
            <a:ext cx="2194560" cy="292608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Automatic effects</a:t>
            </a:r>
            <a:endParaRPr lang="en-US" sz="1300" dirty="0"/>
          </a:p>
          <a:p>
            <a:pPr marL="342900" indent="-342900">
              <a:spcAft>
                <a:spcPts val="600"/>
              </a:spcAft>
              <a:buSzPct val="100000"/>
              <a:buChar char="•"/>
            </a:pPr>
            <a:r>
              <a:rPr lang="en-US" sz="1300" dirty="0">
                <a:solidFill>
                  <a:schemeClr val="tx1"/>
                </a:solidFill>
              </a:rPr>
              <a:t>Assign → status Assigned</a:t>
            </a:r>
            <a:endParaRPr lang="en-US" sz="1300" dirty="0"/>
          </a:p>
          <a:p>
            <a:pPr marL="342900" indent="-342900">
              <a:spcAft>
                <a:spcPts val="600"/>
              </a:spcAft>
              <a:buSzPct val="100000"/>
              <a:buChar char="•"/>
            </a:pPr>
            <a:r>
              <a:rPr lang="en-US" sz="1300" dirty="0">
                <a:solidFill>
                  <a:schemeClr val="tx1"/>
                </a:solidFill>
              </a:rPr>
              <a:t>First work log → In Progress</a:t>
            </a:r>
            <a:endParaRPr lang="en-US" sz="1300" dirty="0"/>
          </a:p>
          <a:p>
            <a:pPr marL="342900" indent="-342900">
              <a:spcAft>
                <a:spcPts val="600"/>
              </a:spcAft>
              <a:buSzPct val="100000"/>
              <a:buChar char="•"/>
            </a:pPr>
            <a:r>
              <a:rPr lang="en-US" sz="1300" dirty="0">
                <a:solidFill>
                  <a:schemeClr val="tx1"/>
                </a:solidFill>
              </a:rPr>
              <a:t>Resolved / Closed / Cancelled → technician released</a:t>
            </a:r>
            <a:endParaRPr lang="en-US" sz="1300" dirty="0"/>
          </a:p>
          <a:p>
            <a:pPr marL="342900" indent="-342900">
              <a:spcAft>
                <a:spcPts val="600"/>
              </a:spcAft>
              <a:buSzPct val="100000"/>
              <a:buChar char="•"/>
            </a:pPr>
            <a:r>
              <a:rPr lang="en-US" sz="1300" dirty="0">
                <a:solidFill>
                  <a:schemeClr val="tx1"/>
                </a:solidFill>
              </a:rPr>
              <a:t>Every change → history row</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27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3200" b="1" dirty="0">
                <a:solidFill>
                  <a:schemeClr val="tx2"/>
                </a:solidFill>
              </a:rPr>
              <a:t>Live dashboard from SQL views</a:t>
            </a:r>
            <a:endParaRPr lang="en-US" sz="3200" dirty="0"/>
          </a:p>
        </p:txBody>
      </p:sp>
      <p:pic>
        <p:nvPicPr>
          <p:cNvPr id="4" name="Image 0" descr="Dashboard screenshot">    </p:cNvPr>
          <p:cNvPicPr>
            <a:picLocks noChangeAspect="1"/>
          </p:cNvPicPr>
          <p:nvPr/>
        </p:nvPicPr>
        <p:blipFill>
          <a:blip r:embed="rId1"/>
          <a:stretch>
            <a:fillRect/>
          </a:stretch>
        </p:blipFill>
        <p:spPr>
          <a:xfrm>
            <a:off x="457200" y="1051560"/>
            <a:ext cx="5669280" cy="2834640"/>
          </a:xfrm>
          <a:prstGeom prst="rect">
            <a:avLst/>
          </a:prstGeom>
        </p:spPr>
      </p:pic>
      <p:sp>
        <p:nvSpPr>
          <p:cNvPr id="5" name="card"/>
          <p:cNvSpPr/>
          <p:nvPr/>
        </p:nvSpPr>
        <p:spPr>
          <a:xfrm>
            <a:off x="6400800" y="1051560"/>
            <a:ext cx="2286000" cy="749808"/>
          </a:xfrm>
          <a:prstGeom prst="roundRect">
            <a:avLst>
              <a:gd name="adj" fmla="val 9756"/>
            </a:avLst>
          </a:prstGeom>
          <a:solidFill>
            <a:srgbClr val="F3F5F7"/>
          </a:solidFill>
          <a:ln w="9525">
            <a:solidFill>
              <a:srgbClr val="DFE5EA"/>
            </a:solidFill>
            <a:prstDash val="solid"/>
          </a:ln>
        </p:spPr>
      </p:sp>
      <p:sp>
        <p:nvSpPr>
          <p:cNvPr id="6" name="Text 2"/>
          <p:cNvSpPr txBox="1"/>
          <p:nvPr/>
        </p:nvSpPr>
        <p:spPr>
          <a:xfrm>
            <a:off x="6537960" y="1097280"/>
            <a:ext cx="1097280" cy="658368"/>
          </a:xfrm>
          <a:prstGeom prst="rect">
            <a:avLst/>
          </a:prstGeom>
          <a:noFill/>
          <a:ln/>
        </p:spPr>
        <p:txBody>
          <a:bodyPr wrap="square" lIns="0" tIns="0" rIns="0" bIns="0" rtlCol="0" anchor="ctr"/>
          <a:lstStyle/>
          <a:p>
            <a:pPr indent="0" marL="0">
              <a:buNone/>
            </a:pPr>
            <a:r>
              <a:rPr lang="en-US" sz="2400" b="1" dirty="0">
                <a:solidFill>
                  <a:schemeClr val="tx2"/>
                </a:solidFill>
              </a:rPr>
              <a:t>40</a:t>
            </a:r>
            <a:endParaRPr lang="en-US" sz="2400" dirty="0"/>
          </a:p>
        </p:txBody>
      </p:sp>
      <p:sp>
        <p:nvSpPr>
          <p:cNvPr id="7" name="Text 3"/>
          <p:cNvSpPr txBox="1"/>
          <p:nvPr/>
        </p:nvSpPr>
        <p:spPr>
          <a:xfrm>
            <a:off x="7589520" y="1097280"/>
            <a:ext cx="1051560" cy="658368"/>
          </a:xfrm>
          <a:prstGeom prst="rect">
            <a:avLst/>
          </a:prstGeom>
          <a:noFill/>
          <a:ln/>
        </p:spPr>
        <p:txBody>
          <a:bodyPr wrap="square" lIns="0" tIns="0" rIns="0" bIns="0" rtlCol="0" anchor="ctr"/>
          <a:lstStyle/>
          <a:p>
            <a:pPr indent="0" marL="0">
              <a:buNone/>
            </a:pPr>
            <a:r>
              <a:rPr lang="en-US" sz="1200" dirty="0">
                <a:solidFill>
                  <a:srgbClr val="64727F"/>
                </a:solidFill>
              </a:rPr>
              <a:t>requests</a:t>
            </a:r>
            <a:endParaRPr lang="en-US" sz="1200" dirty="0"/>
          </a:p>
        </p:txBody>
      </p:sp>
      <p:sp>
        <p:nvSpPr>
          <p:cNvPr id="8" name="card"/>
          <p:cNvSpPr/>
          <p:nvPr/>
        </p:nvSpPr>
        <p:spPr>
          <a:xfrm>
            <a:off x="6400800" y="1920240"/>
            <a:ext cx="2286000" cy="749808"/>
          </a:xfrm>
          <a:prstGeom prst="roundRect">
            <a:avLst>
              <a:gd name="adj" fmla="val 9756"/>
            </a:avLst>
          </a:prstGeom>
          <a:solidFill>
            <a:srgbClr val="F3F5F7"/>
          </a:solidFill>
          <a:ln w="9525">
            <a:solidFill>
              <a:srgbClr val="DFE5EA"/>
            </a:solidFill>
            <a:prstDash val="solid"/>
          </a:ln>
        </p:spPr>
      </p:sp>
      <p:sp>
        <p:nvSpPr>
          <p:cNvPr id="9" name="Text 5"/>
          <p:cNvSpPr txBox="1"/>
          <p:nvPr/>
        </p:nvSpPr>
        <p:spPr>
          <a:xfrm>
            <a:off x="6537960" y="1965960"/>
            <a:ext cx="1097280" cy="658368"/>
          </a:xfrm>
          <a:prstGeom prst="rect">
            <a:avLst/>
          </a:prstGeom>
          <a:noFill/>
          <a:ln/>
        </p:spPr>
        <p:txBody>
          <a:bodyPr wrap="square" lIns="0" tIns="0" rIns="0" bIns="0" rtlCol="0" anchor="ctr"/>
          <a:lstStyle/>
          <a:p>
            <a:pPr indent="0" marL="0">
              <a:buNone/>
            </a:pPr>
            <a:r>
              <a:rPr lang="en-US" sz="2400" b="1" dirty="0">
                <a:solidFill>
                  <a:schemeClr val="tx2"/>
                </a:solidFill>
              </a:rPr>
              <a:t>21</a:t>
            </a:r>
            <a:endParaRPr lang="en-US" sz="2400" dirty="0"/>
          </a:p>
        </p:txBody>
      </p:sp>
      <p:sp>
        <p:nvSpPr>
          <p:cNvPr id="10" name="Text 6"/>
          <p:cNvSpPr txBox="1"/>
          <p:nvPr/>
        </p:nvSpPr>
        <p:spPr>
          <a:xfrm>
            <a:off x="7589520" y="1965960"/>
            <a:ext cx="1051560" cy="658368"/>
          </a:xfrm>
          <a:prstGeom prst="rect">
            <a:avLst/>
          </a:prstGeom>
          <a:noFill/>
          <a:ln/>
        </p:spPr>
        <p:txBody>
          <a:bodyPr wrap="square" lIns="0" tIns="0" rIns="0" bIns="0" rtlCol="0" anchor="ctr"/>
          <a:lstStyle/>
          <a:p>
            <a:pPr indent="0" marL="0">
              <a:buNone/>
            </a:pPr>
            <a:r>
              <a:rPr lang="en-US" sz="1200" dirty="0">
                <a:solidFill>
                  <a:srgbClr val="64727F"/>
                </a:solidFill>
              </a:rPr>
              <a:t>pending</a:t>
            </a:r>
            <a:endParaRPr lang="en-US" sz="1200" dirty="0"/>
          </a:p>
        </p:txBody>
      </p:sp>
      <p:sp>
        <p:nvSpPr>
          <p:cNvPr id="11" name="card"/>
          <p:cNvSpPr/>
          <p:nvPr/>
        </p:nvSpPr>
        <p:spPr>
          <a:xfrm>
            <a:off x="6400800" y="2788920"/>
            <a:ext cx="2286000" cy="749808"/>
          </a:xfrm>
          <a:prstGeom prst="roundRect">
            <a:avLst>
              <a:gd name="adj" fmla="val 9756"/>
            </a:avLst>
          </a:prstGeom>
          <a:solidFill>
            <a:srgbClr val="F3F5F7"/>
          </a:solidFill>
          <a:ln w="9525">
            <a:solidFill>
              <a:srgbClr val="DFE5EA"/>
            </a:solidFill>
            <a:prstDash val="solid"/>
          </a:ln>
        </p:spPr>
      </p:sp>
      <p:sp>
        <p:nvSpPr>
          <p:cNvPr id="12" name="Text 8"/>
          <p:cNvSpPr txBox="1"/>
          <p:nvPr/>
        </p:nvSpPr>
        <p:spPr>
          <a:xfrm>
            <a:off x="6537960" y="2834640"/>
            <a:ext cx="1097280" cy="658368"/>
          </a:xfrm>
          <a:prstGeom prst="rect">
            <a:avLst/>
          </a:prstGeom>
          <a:noFill/>
          <a:ln/>
        </p:spPr>
        <p:txBody>
          <a:bodyPr wrap="square" lIns="0" tIns="0" rIns="0" bIns="0" rtlCol="0" anchor="ctr"/>
          <a:lstStyle/>
          <a:p>
            <a:pPr indent="0" marL="0">
              <a:buNone/>
            </a:pPr>
            <a:r>
              <a:rPr lang="en-US" sz="2400" b="1" dirty="0">
                <a:solidFill>
                  <a:schemeClr val="tx2"/>
                </a:solidFill>
              </a:rPr>
              <a:t>40.4 h</a:t>
            </a:r>
            <a:endParaRPr lang="en-US" sz="2400" dirty="0"/>
          </a:p>
        </p:txBody>
      </p:sp>
      <p:sp>
        <p:nvSpPr>
          <p:cNvPr id="13" name="Text 9"/>
          <p:cNvSpPr txBox="1"/>
          <p:nvPr/>
        </p:nvSpPr>
        <p:spPr>
          <a:xfrm>
            <a:off x="7589520" y="2834640"/>
            <a:ext cx="1051560" cy="658368"/>
          </a:xfrm>
          <a:prstGeom prst="rect">
            <a:avLst/>
          </a:prstGeom>
          <a:noFill/>
          <a:ln/>
        </p:spPr>
        <p:txBody>
          <a:bodyPr wrap="square" lIns="0" tIns="0" rIns="0" bIns="0" rtlCol="0" anchor="ctr"/>
          <a:lstStyle/>
          <a:p>
            <a:pPr indent="0" marL="0">
              <a:buNone/>
            </a:pPr>
            <a:r>
              <a:rPr lang="en-US" sz="1200" dirty="0">
                <a:solidFill>
                  <a:srgbClr val="64727F"/>
                </a:solidFill>
              </a:rPr>
              <a:t>avg first response</a:t>
            </a:r>
            <a:endParaRPr lang="en-US" sz="1200" dirty="0"/>
          </a:p>
        </p:txBody>
      </p:sp>
      <p:sp>
        <p:nvSpPr>
          <p:cNvPr id="14" name="card"/>
          <p:cNvSpPr/>
          <p:nvPr/>
        </p:nvSpPr>
        <p:spPr>
          <a:xfrm>
            <a:off x="6400800" y="3657600"/>
            <a:ext cx="2286000" cy="749808"/>
          </a:xfrm>
          <a:prstGeom prst="roundRect">
            <a:avLst>
              <a:gd name="adj" fmla="val 9756"/>
            </a:avLst>
          </a:prstGeom>
          <a:solidFill>
            <a:srgbClr val="F3F5F7"/>
          </a:solidFill>
          <a:ln w="9525">
            <a:solidFill>
              <a:srgbClr val="DFE5EA"/>
            </a:solidFill>
            <a:prstDash val="solid"/>
          </a:ln>
        </p:spPr>
      </p:sp>
      <p:sp>
        <p:nvSpPr>
          <p:cNvPr id="15" name="Text 11"/>
          <p:cNvSpPr txBox="1"/>
          <p:nvPr/>
        </p:nvSpPr>
        <p:spPr>
          <a:xfrm>
            <a:off x="6537960" y="3703320"/>
            <a:ext cx="1097280" cy="658368"/>
          </a:xfrm>
          <a:prstGeom prst="rect">
            <a:avLst/>
          </a:prstGeom>
          <a:noFill/>
          <a:ln/>
        </p:spPr>
        <p:txBody>
          <a:bodyPr wrap="square" lIns="0" tIns="0" rIns="0" bIns="0" rtlCol="0" anchor="ctr"/>
          <a:lstStyle/>
          <a:p>
            <a:pPr indent="0" marL="0">
              <a:buNone/>
            </a:pPr>
            <a:r>
              <a:rPr lang="en-US" sz="2400" b="1" dirty="0">
                <a:solidFill>
                  <a:schemeClr val="tx2"/>
                </a:solidFill>
              </a:rPr>
              <a:t>3.92 / 5</a:t>
            </a:r>
            <a:endParaRPr lang="en-US" sz="2400" dirty="0"/>
          </a:p>
        </p:txBody>
      </p:sp>
      <p:sp>
        <p:nvSpPr>
          <p:cNvPr id="16" name="Text 12"/>
          <p:cNvSpPr txBox="1"/>
          <p:nvPr/>
        </p:nvSpPr>
        <p:spPr>
          <a:xfrm>
            <a:off x="7589520" y="3703320"/>
            <a:ext cx="1051560" cy="658368"/>
          </a:xfrm>
          <a:prstGeom prst="rect">
            <a:avLst/>
          </a:prstGeom>
          <a:noFill/>
          <a:ln/>
        </p:spPr>
        <p:txBody>
          <a:bodyPr wrap="square" lIns="0" tIns="0" rIns="0" bIns="0" rtlCol="0" anchor="ctr"/>
          <a:lstStyle/>
          <a:p>
            <a:pPr indent="0" marL="0">
              <a:buNone/>
            </a:pPr>
            <a:r>
              <a:rPr lang="en-US" sz="1200" dirty="0">
                <a:solidFill>
                  <a:srgbClr val="64727F"/>
                </a:solidFill>
              </a:rPr>
              <a:t>avg feedback</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27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3200" b="1" dirty="0">
                <a:solidFill>
                  <a:schemeClr val="tx2"/>
                </a:solidFill>
              </a:rPr>
              <a:t>One screen for the whole request</a:t>
            </a:r>
            <a:endParaRPr lang="en-US" sz="3200" dirty="0"/>
          </a:p>
        </p:txBody>
      </p:sp>
      <p:pic>
        <p:nvPicPr>
          <p:cNvPr id="4" name="Image 0" descr="Request detail screenshot">    </p:cNvPr>
          <p:cNvPicPr>
            <a:picLocks noChangeAspect="1"/>
          </p:cNvPicPr>
          <p:nvPr/>
        </p:nvPicPr>
        <p:blipFill>
          <a:blip r:embed="rId1"/>
          <a:stretch>
            <a:fillRect/>
          </a:stretch>
        </p:blipFill>
        <p:spPr>
          <a:xfrm>
            <a:off x="457200" y="1005840"/>
            <a:ext cx="4937760" cy="3471863"/>
          </a:xfrm>
          <a:prstGeom prst="rect">
            <a:avLst/>
          </a:prstGeom>
        </p:spPr>
      </p:pic>
      <p:sp>
        <p:nvSpPr>
          <p:cNvPr id="5" name="card"/>
          <p:cNvSpPr/>
          <p:nvPr/>
        </p:nvSpPr>
        <p:spPr>
          <a:xfrm>
            <a:off x="5669280" y="1005840"/>
            <a:ext cx="3017520" cy="777240"/>
          </a:xfrm>
          <a:prstGeom prst="roundRect">
            <a:avLst>
              <a:gd name="adj" fmla="val 9412"/>
            </a:avLst>
          </a:prstGeom>
          <a:solidFill>
            <a:srgbClr val="F3F5F7"/>
          </a:solidFill>
          <a:ln w="9525">
            <a:solidFill>
              <a:srgbClr val="DFE5EA"/>
            </a:solidFill>
            <a:prstDash val="solid"/>
          </a:ln>
        </p:spPr>
      </p:sp>
      <p:sp>
        <p:nvSpPr>
          <p:cNvPr id="6" name="Text 2"/>
          <p:cNvSpPr txBox="1"/>
          <p:nvPr/>
        </p:nvSpPr>
        <p:spPr>
          <a:xfrm>
            <a:off x="5806440" y="1005840"/>
            <a:ext cx="2788920" cy="777240"/>
          </a:xfrm>
          <a:prstGeom prst="rect">
            <a:avLst/>
          </a:prstGeom>
          <a:noFill/>
          <a:ln/>
        </p:spPr>
        <p:txBody>
          <a:bodyPr wrap="square" lIns="0" tIns="0" rIns="0" bIns="0" rtlCol="0" anchor="ctr"/>
          <a:lstStyle/>
          <a:p>
            <a:pPr indent="0" marL="0">
              <a:buNone/>
            </a:pPr>
            <a:r>
              <a:rPr lang="en-US" sz="1400" b="1" dirty="0">
                <a:solidFill>
                  <a:schemeClr val="tx2"/>
                </a:solidFill>
              </a:rPr>
              <a:t>Assign</a:t>
            </a:r>
            <a:endParaRPr lang="en-US" sz="1400" dirty="0"/>
          </a:p>
          <a:p>
            <a:pPr indent="0" marL="0">
              <a:buNone/>
            </a:pPr>
            <a:r>
              <a:rPr lang="en-US" sz="1200" dirty="0">
                <a:solidFill>
                  <a:schemeClr val="tx1"/>
                </a:solidFill>
              </a:rPr>
              <a:t>Technician list shows load, e.g. 2/4 jobs</a:t>
            </a:r>
            <a:endParaRPr lang="en-US" sz="1400" dirty="0"/>
          </a:p>
        </p:txBody>
      </p:sp>
      <p:sp>
        <p:nvSpPr>
          <p:cNvPr id="7" name="card"/>
          <p:cNvSpPr/>
          <p:nvPr/>
        </p:nvSpPr>
        <p:spPr>
          <a:xfrm>
            <a:off x="5669280" y="1901952"/>
            <a:ext cx="3017520" cy="777240"/>
          </a:xfrm>
          <a:prstGeom prst="roundRect">
            <a:avLst>
              <a:gd name="adj" fmla="val 9412"/>
            </a:avLst>
          </a:prstGeom>
          <a:solidFill>
            <a:srgbClr val="F3F5F7"/>
          </a:solidFill>
          <a:ln w="9525">
            <a:solidFill>
              <a:srgbClr val="DFE5EA"/>
            </a:solidFill>
            <a:prstDash val="solid"/>
          </a:ln>
        </p:spPr>
      </p:sp>
      <p:sp>
        <p:nvSpPr>
          <p:cNvPr id="8" name="Text 4"/>
          <p:cNvSpPr txBox="1"/>
          <p:nvPr/>
        </p:nvSpPr>
        <p:spPr>
          <a:xfrm>
            <a:off x="5806440" y="1901952"/>
            <a:ext cx="2788920" cy="777240"/>
          </a:xfrm>
          <a:prstGeom prst="rect">
            <a:avLst/>
          </a:prstGeom>
          <a:noFill/>
          <a:ln/>
        </p:spPr>
        <p:txBody>
          <a:bodyPr wrap="square" lIns="0" tIns="0" rIns="0" bIns="0" rtlCol="0" anchor="ctr"/>
          <a:lstStyle/>
          <a:p>
            <a:pPr indent="0" marL="0">
              <a:buNone/>
            </a:pPr>
            <a:r>
              <a:rPr lang="en-US" sz="1400" b="1" dirty="0">
                <a:solidFill>
                  <a:schemeClr val="tx2"/>
                </a:solidFill>
              </a:rPr>
              <a:t>Work and materials</a:t>
            </a:r>
            <a:endParaRPr lang="en-US" sz="1400" dirty="0"/>
          </a:p>
          <a:p>
            <a:pPr indent="0" marL="0">
              <a:buNone/>
            </a:pPr>
            <a:r>
              <a:rPr lang="en-US" sz="1200" dirty="0">
                <a:solidFill>
                  <a:schemeClr val="tx1"/>
                </a:solidFill>
              </a:rPr>
              <a:t>Hours logged; stock reduced on issue</a:t>
            </a:r>
            <a:endParaRPr lang="en-US" sz="1400" dirty="0"/>
          </a:p>
        </p:txBody>
      </p:sp>
      <p:sp>
        <p:nvSpPr>
          <p:cNvPr id="9" name="card"/>
          <p:cNvSpPr/>
          <p:nvPr/>
        </p:nvSpPr>
        <p:spPr>
          <a:xfrm>
            <a:off x="5669280" y="2798064"/>
            <a:ext cx="3017520" cy="777240"/>
          </a:xfrm>
          <a:prstGeom prst="roundRect">
            <a:avLst>
              <a:gd name="adj" fmla="val 9412"/>
            </a:avLst>
          </a:prstGeom>
          <a:solidFill>
            <a:srgbClr val="F3F5F7"/>
          </a:solidFill>
          <a:ln w="9525">
            <a:solidFill>
              <a:srgbClr val="DFE5EA"/>
            </a:solidFill>
            <a:prstDash val="solid"/>
          </a:ln>
        </p:spPr>
      </p:sp>
      <p:sp>
        <p:nvSpPr>
          <p:cNvPr id="10" name="Text 6"/>
          <p:cNvSpPr txBox="1"/>
          <p:nvPr/>
        </p:nvSpPr>
        <p:spPr>
          <a:xfrm>
            <a:off x="5806440" y="2798064"/>
            <a:ext cx="2788920" cy="777240"/>
          </a:xfrm>
          <a:prstGeom prst="rect">
            <a:avLst/>
          </a:prstGeom>
          <a:noFill/>
          <a:ln/>
        </p:spPr>
        <p:txBody>
          <a:bodyPr wrap="square" lIns="0" tIns="0" rIns="0" bIns="0" rtlCol="0" anchor="ctr"/>
          <a:lstStyle/>
          <a:p>
            <a:pPr indent="0" marL="0">
              <a:buNone/>
            </a:pPr>
            <a:r>
              <a:rPr lang="en-US" sz="1400" b="1" dirty="0">
                <a:solidFill>
                  <a:schemeClr val="tx2"/>
                </a:solidFill>
              </a:rPr>
              <a:t>Status and closure</a:t>
            </a:r>
            <a:endParaRPr lang="en-US" sz="1400" dirty="0"/>
          </a:p>
          <a:p>
            <a:pPr indent="0" marL="0">
              <a:buNone/>
            </a:pPr>
            <a:r>
              <a:rPr lang="en-US" sz="1200" dirty="0">
                <a:solidFill>
                  <a:schemeClr val="tx1"/>
                </a:solidFill>
              </a:rPr>
              <a:t>Only allowed next statuses; remarks required</a:t>
            </a:r>
            <a:endParaRPr lang="en-US" sz="1400" dirty="0"/>
          </a:p>
        </p:txBody>
      </p:sp>
      <p:sp>
        <p:nvSpPr>
          <p:cNvPr id="11" name="card"/>
          <p:cNvSpPr/>
          <p:nvPr/>
        </p:nvSpPr>
        <p:spPr>
          <a:xfrm>
            <a:off x="5669280" y="3694176"/>
            <a:ext cx="3017520" cy="777240"/>
          </a:xfrm>
          <a:prstGeom prst="roundRect">
            <a:avLst>
              <a:gd name="adj" fmla="val 9412"/>
            </a:avLst>
          </a:prstGeom>
          <a:solidFill>
            <a:srgbClr val="F3F5F7"/>
          </a:solidFill>
          <a:ln w="9525">
            <a:solidFill>
              <a:srgbClr val="DFE5EA"/>
            </a:solidFill>
            <a:prstDash val="solid"/>
          </a:ln>
        </p:spPr>
      </p:sp>
      <p:sp>
        <p:nvSpPr>
          <p:cNvPr id="12" name="Text 8"/>
          <p:cNvSpPr txBox="1"/>
          <p:nvPr/>
        </p:nvSpPr>
        <p:spPr>
          <a:xfrm>
            <a:off x="5806440" y="3694176"/>
            <a:ext cx="2788920" cy="777240"/>
          </a:xfrm>
          <a:prstGeom prst="rect">
            <a:avLst/>
          </a:prstGeom>
          <a:noFill/>
          <a:ln/>
        </p:spPr>
        <p:txBody>
          <a:bodyPr wrap="square" lIns="0" tIns="0" rIns="0" bIns="0" rtlCol="0" anchor="ctr"/>
          <a:lstStyle/>
          <a:p>
            <a:pPr indent="0" marL="0">
              <a:buNone/>
            </a:pPr>
            <a:r>
              <a:rPr lang="en-US" sz="1400" b="1" dirty="0">
                <a:solidFill>
                  <a:schemeClr val="tx2"/>
                </a:solidFill>
              </a:rPr>
              <a:t>Cost</a:t>
            </a:r>
            <a:endParaRPr lang="en-US" sz="1400" dirty="0"/>
          </a:p>
          <a:p>
            <a:pPr indent="0" marL="0">
              <a:buNone/>
            </a:pPr>
            <a:r>
              <a:rPr lang="en-US" sz="1200" dirty="0">
                <a:solidFill>
                  <a:schemeClr val="tx1"/>
                </a:solidFill>
              </a:rPr>
              <a:t>Labour + material + other, per request</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27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3200" b="1" dirty="0">
                <a:solidFill>
                  <a:schemeClr val="tx2"/>
                </a:solidFill>
              </a:rPr>
              <a:t>Invalid actions are rejected by the database</a:t>
            </a:r>
            <a:endParaRPr lang="en-US" sz="3200" dirty="0"/>
          </a:p>
        </p:txBody>
      </p:sp>
      <p:pic>
        <p:nvPicPr>
          <p:cNvPr id="4" name="Image 0" descr="Assignment refused screenshot">    </p:cNvPr>
          <p:cNvPicPr>
            <a:picLocks noChangeAspect="1"/>
          </p:cNvPicPr>
          <p:nvPr/>
        </p:nvPicPr>
        <p:blipFill>
          <a:blip r:embed="rId1"/>
          <a:stretch>
            <a:fillRect/>
          </a:stretch>
        </p:blipFill>
        <p:spPr>
          <a:xfrm>
            <a:off x="457200" y="1188720"/>
            <a:ext cx="4023360" cy="1037272"/>
          </a:xfrm>
          <a:prstGeom prst="rect">
            <a:avLst/>
          </a:prstGeom>
        </p:spPr>
      </p:pic>
      <p:pic>
        <p:nvPicPr>
          <p:cNvPr id="5" name="Image 1" descr="Closure refused screenshot">    </p:cNvPr>
          <p:cNvPicPr>
            <a:picLocks noChangeAspect="1"/>
          </p:cNvPicPr>
          <p:nvPr/>
        </p:nvPicPr>
        <p:blipFill>
          <a:blip r:embed="rId2"/>
          <a:stretch>
            <a:fillRect/>
          </a:stretch>
        </p:blipFill>
        <p:spPr>
          <a:xfrm>
            <a:off x="4663440" y="1188720"/>
            <a:ext cx="4023360" cy="1320165"/>
          </a:xfrm>
          <a:prstGeom prst="rect">
            <a:avLst/>
          </a:prstGeom>
        </p:spPr>
      </p:pic>
      <p:sp>
        <p:nvSpPr>
          <p:cNvPr id="6" name="Text 1"/>
          <p:cNvSpPr txBox="1"/>
          <p:nvPr/>
        </p:nvSpPr>
        <p:spPr>
          <a:xfrm>
            <a:off x="457200" y="2600325"/>
            <a:ext cx="4023360" cy="274320"/>
          </a:xfrm>
          <a:prstGeom prst="rect">
            <a:avLst/>
          </a:prstGeom>
          <a:noFill/>
          <a:ln/>
        </p:spPr>
        <p:txBody>
          <a:bodyPr wrap="square" lIns="0" tIns="0" rIns="0" bIns="0" rtlCol="0" anchor="ctr"/>
          <a:lstStyle/>
          <a:p>
            <a:pPr indent="0" marL="0">
              <a:buNone/>
            </a:pPr>
            <a:r>
              <a:rPr lang="en-US" sz="1300" b="1" dirty="0">
                <a:solidFill>
                  <a:schemeClr val="tx2"/>
                </a:solidFill>
              </a:rPr>
              <a:t>Assignment control (capacity trigger)</a:t>
            </a:r>
            <a:endParaRPr lang="en-US" sz="1300" dirty="0"/>
          </a:p>
        </p:txBody>
      </p:sp>
      <p:sp>
        <p:nvSpPr>
          <p:cNvPr id="7" name="Text 2"/>
          <p:cNvSpPr txBox="1"/>
          <p:nvPr/>
        </p:nvSpPr>
        <p:spPr>
          <a:xfrm>
            <a:off x="4663440" y="2600325"/>
            <a:ext cx="4023360" cy="274320"/>
          </a:xfrm>
          <a:prstGeom prst="rect">
            <a:avLst/>
          </a:prstGeom>
          <a:noFill/>
          <a:ln/>
        </p:spPr>
        <p:txBody>
          <a:bodyPr wrap="square" lIns="0" tIns="0" rIns="0" bIns="0" rtlCol="0" anchor="ctr"/>
          <a:lstStyle/>
          <a:p>
            <a:pPr indent="0" marL="0">
              <a:buNone/>
            </a:pPr>
            <a:r>
              <a:rPr lang="en-US" sz="1300" b="1" dirty="0">
                <a:solidFill>
                  <a:schemeClr val="tx2"/>
                </a:solidFill>
              </a:rPr>
              <a:t>Closure details required (CHECK)</a:t>
            </a:r>
            <a:endParaRPr lang="en-US" sz="1300" dirty="0"/>
          </a:p>
        </p:txBody>
      </p:sp>
      <p:sp>
        <p:nvSpPr>
          <p:cNvPr id="8" name="card"/>
          <p:cNvSpPr/>
          <p:nvPr/>
        </p:nvSpPr>
        <p:spPr>
          <a:xfrm>
            <a:off x="457200" y="3429000"/>
            <a:ext cx="8229600" cy="868680"/>
          </a:xfrm>
          <a:prstGeom prst="roundRect">
            <a:avLst>
              <a:gd name="adj" fmla="val 8421"/>
            </a:avLst>
          </a:prstGeom>
          <a:solidFill>
            <a:srgbClr val="E6F1F3"/>
          </a:solidFill>
          <a:ln w="9525">
            <a:solidFill>
              <a:srgbClr val="DFE5EA"/>
            </a:solidFill>
            <a:prstDash val="solid"/>
          </a:ln>
        </p:spPr>
      </p:sp>
      <p:sp>
        <p:nvSpPr>
          <p:cNvPr id="9" name="Text 4"/>
          <p:cNvSpPr txBox="1"/>
          <p:nvPr/>
        </p:nvSpPr>
        <p:spPr>
          <a:xfrm>
            <a:off x="640080" y="3429000"/>
            <a:ext cx="7863840" cy="868680"/>
          </a:xfrm>
          <a:prstGeom prst="rect">
            <a:avLst/>
          </a:prstGeom>
          <a:noFill/>
          <a:ln/>
        </p:spPr>
        <p:txBody>
          <a:bodyPr wrap="square" lIns="0" tIns="0" rIns="0" bIns="0" rtlCol="0" anchor="ctr"/>
          <a:lstStyle/>
          <a:p>
            <a:pPr indent="0" marL="0">
              <a:buNone/>
            </a:pPr>
            <a:r>
              <a:rPr lang="en-US" sz="1600" dirty="0">
                <a:solidFill>
                  <a:schemeClr val="tx1"/>
                </a:solidFill>
              </a:rPr>
              <a:t>Every refused operation is rolled back – no partial rows are left behind.</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27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3200" b="1" dirty="0">
                <a:solidFill>
                  <a:schemeClr val="tx2"/>
                </a:solidFill>
              </a:rPr>
              <a:t>Reports answer management questions</a:t>
            </a:r>
            <a:endParaRPr lang="en-US" sz="3200" dirty="0"/>
          </a:p>
        </p:txBody>
      </p:sp>
      <p:graphicFrame>
        <p:nvGraphicFramePr>
          <p:cNvPr id="4" name="Chart 0" descr=""/>
          <p:cNvGraphicFramePr/>
          <p:nvPr/>
        </p:nvGraphicFramePr>
        <p:xfrm>
          <a:off x="365760" y="1005840"/>
          <a:ext cx="420624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663440" y="1005840"/>
          <a:ext cx="4114800" cy="320040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27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3200" b="1" dirty="0">
                <a:solidFill>
                  <a:schemeClr val="tx2"/>
                </a:solidFill>
              </a:rPr>
              <a:t>19 of 19 executable tests pass</a:t>
            </a:r>
            <a:endParaRPr lang="en-US" sz="3200" dirty="0"/>
          </a:p>
        </p:txBody>
      </p:sp>
      <p:sp>
        <p:nvSpPr>
          <p:cNvPr id="4" name="Text 1"/>
          <p:cNvSpPr txBox="1"/>
          <p:nvPr/>
        </p:nvSpPr>
        <p:spPr>
          <a:xfrm>
            <a:off x="457200" y="1188720"/>
            <a:ext cx="2560320" cy="1188720"/>
          </a:xfrm>
          <a:prstGeom prst="rect">
            <a:avLst/>
          </a:prstGeom>
          <a:noFill/>
          <a:ln/>
        </p:spPr>
        <p:txBody>
          <a:bodyPr wrap="square" lIns="0" tIns="0" rIns="0" bIns="0" rtlCol="0" anchor="ctr"/>
          <a:lstStyle/>
          <a:p>
            <a:pPr algn="l" indent="0" marL="0">
              <a:buNone/>
            </a:pPr>
            <a:r>
              <a:rPr lang="en-US" sz="6600" b="1" dirty="0">
                <a:solidFill>
                  <a:srgbClr val="0F4C5C"/>
                </a:solidFill>
              </a:rPr>
              <a:t>19/19</a:t>
            </a:r>
            <a:endParaRPr lang="en-US" sz="6600" dirty="0"/>
          </a:p>
        </p:txBody>
      </p:sp>
      <p:sp>
        <p:nvSpPr>
          <p:cNvPr id="5" name="Text 2"/>
          <p:cNvSpPr txBox="1"/>
          <p:nvPr/>
        </p:nvSpPr>
        <p:spPr>
          <a:xfrm>
            <a:off x="457200" y="2331720"/>
            <a:ext cx="2560320" cy="365760"/>
          </a:xfrm>
          <a:prstGeom prst="rect">
            <a:avLst/>
          </a:prstGeom>
          <a:noFill/>
          <a:ln/>
        </p:spPr>
        <p:txBody>
          <a:bodyPr wrap="square" lIns="0" tIns="0" rIns="0" bIns="0" rtlCol="0" anchor="ctr"/>
          <a:lstStyle/>
          <a:p>
            <a:pPr indent="0" marL="0">
              <a:buNone/>
            </a:pPr>
            <a:r>
              <a:rPr lang="en-US" sz="1600" dirty="0">
                <a:solidFill>
                  <a:srgbClr val="64727F"/>
                </a:solidFill>
              </a:rPr>
              <a:t>test cases passed</a:t>
            </a:r>
            <a:endParaRPr lang="en-US" sz="1600" dirty="0"/>
          </a:p>
        </p:txBody>
      </p:sp>
      <p:sp>
        <p:nvSpPr>
          <p:cNvPr id="6" name="card"/>
          <p:cNvSpPr/>
          <p:nvPr/>
        </p:nvSpPr>
        <p:spPr>
          <a:xfrm>
            <a:off x="3383280" y="1143000"/>
            <a:ext cx="5303520" cy="914400"/>
          </a:xfrm>
          <a:prstGeom prst="roundRect">
            <a:avLst>
              <a:gd name="adj" fmla="val 8000"/>
            </a:avLst>
          </a:prstGeom>
          <a:solidFill>
            <a:srgbClr val="F3F5F7"/>
          </a:solidFill>
          <a:ln w="9525">
            <a:solidFill>
              <a:srgbClr val="DFE5EA"/>
            </a:solidFill>
            <a:prstDash val="solid"/>
          </a:ln>
        </p:spPr>
      </p:sp>
      <p:sp>
        <p:nvSpPr>
          <p:cNvPr id="7" name="badge"/>
          <p:cNvSpPr/>
          <p:nvPr/>
        </p:nvSpPr>
        <p:spPr>
          <a:xfrm>
            <a:off x="3566160" y="1371600"/>
            <a:ext cx="457200" cy="457200"/>
          </a:xfrm>
          <a:prstGeom prst="ellipse">
            <a:avLst/>
          </a:prstGeom>
          <a:solidFill>
            <a:srgbClr val="16697A"/>
          </a:solidFill>
          <a:ln w="12700">
            <a:solidFill>
              <a:srgbClr val="16697A"/>
            </a:solidFill>
            <a:prstDash val="solid"/>
          </a:ln>
        </p:spPr>
      </p:sp>
      <p:sp>
        <p:nvSpPr>
          <p:cNvPr id="8" name="Text 5"/>
          <p:cNvSpPr txBox="1"/>
          <p:nvPr/>
        </p:nvSpPr>
        <p:spPr>
          <a:xfrm>
            <a:off x="3566160" y="13716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9" name="Text 6"/>
          <p:cNvSpPr txBox="1"/>
          <p:nvPr/>
        </p:nvSpPr>
        <p:spPr>
          <a:xfrm>
            <a:off x="4206240" y="1143000"/>
            <a:ext cx="4389120" cy="914400"/>
          </a:xfrm>
          <a:prstGeom prst="rect">
            <a:avLst/>
          </a:prstGeom>
          <a:noFill/>
          <a:ln/>
        </p:spPr>
        <p:txBody>
          <a:bodyPr wrap="square" lIns="0" tIns="0" rIns="0" bIns="0" rtlCol="0" anchor="ctr"/>
          <a:lstStyle/>
          <a:p>
            <a:pPr indent="0" marL="0">
              <a:buNone/>
            </a:pPr>
            <a:r>
              <a:rPr lang="en-US" sz="1500" b="1" dirty="0">
                <a:solidFill>
                  <a:schemeClr val="tx2"/>
                </a:solidFill>
              </a:rPr>
              <a:t>Rules in the database</a:t>
            </a:r>
            <a:endParaRPr lang="en-US" sz="1500" dirty="0"/>
          </a:p>
          <a:p>
            <a:pPr indent="0" marL="0">
              <a:buNone/>
            </a:pPr>
            <a:r>
              <a:rPr lang="en-US" sz="1200" dirty="0">
                <a:solidFill>
                  <a:schemeClr val="tx1"/>
                </a:solidFill>
              </a:rPr>
              <a:t>Unique number, invalid transition, closure details, negative cost, capacity, stock, feedback, delete, foreign key</a:t>
            </a:r>
            <a:endParaRPr lang="en-US" sz="1500" dirty="0"/>
          </a:p>
        </p:txBody>
      </p:sp>
      <p:sp>
        <p:nvSpPr>
          <p:cNvPr id="10" name="card"/>
          <p:cNvSpPr/>
          <p:nvPr/>
        </p:nvSpPr>
        <p:spPr>
          <a:xfrm>
            <a:off x="3383280" y="2194560"/>
            <a:ext cx="5303520" cy="914400"/>
          </a:xfrm>
          <a:prstGeom prst="roundRect">
            <a:avLst>
              <a:gd name="adj" fmla="val 8000"/>
            </a:avLst>
          </a:prstGeom>
          <a:solidFill>
            <a:srgbClr val="F3F5F7"/>
          </a:solidFill>
          <a:ln w="9525">
            <a:solidFill>
              <a:srgbClr val="DFE5EA"/>
            </a:solidFill>
            <a:prstDash val="solid"/>
          </a:ln>
        </p:spPr>
      </p:sp>
      <p:sp>
        <p:nvSpPr>
          <p:cNvPr id="11" name="badge"/>
          <p:cNvSpPr/>
          <p:nvPr/>
        </p:nvSpPr>
        <p:spPr>
          <a:xfrm>
            <a:off x="3566160" y="2423160"/>
            <a:ext cx="457200" cy="457200"/>
          </a:xfrm>
          <a:prstGeom prst="ellipse">
            <a:avLst/>
          </a:prstGeom>
          <a:solidFill>
            <a:srgbClr val="16697A"/>
          </a:solidFill>
          <a:ln w="12700">
            <a:solidFill>
              <a:srgbClr val="16697A"/>
            </a:solidFill>
            <a:prstDash val="solid"/>
          </a:ln>
        </p:spPr>
      </p:sp>
      <p:sp>
        <p:nvSpPr>
          <p:cNvPr id="12" name="Text 9"/>
          <p:cNvSpPr txBox="1"/>
          <p:nvPr/>
        </p:nvSpPr>
        <p:spPr>
          <a:xfrm>
            <a:off x="3566160" y="24231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3" name="Text 10"/>
          <p:cNvSpPr txBox="1"/>
          <p:nvPr/>
        </p:nvSpPr>
        <p:spPr>
          <a:xfrm>
            <a:off x="4206240" y="2194560"/>
            <a:ext cx="4389120" cy="914400"/>
          </a:xfrm>
          <a:prstGeom prst="rect">
            <a:avLst/>
          </a:prstGeom>
          <a:noFill/>
          <a:ln/>
        </p:spPr>
        <p:txBody>
          <a:bodyPr wrap="square" lIns="0" tIns="0" rIns="0" bIns="0" rtlCol="0" anchor="ctr"/>
          <a:lstStyle/>
          <a:p>
            <a:pPr indent="0" marL="0">
              <a:buNone/>
            </a:pPr>
            <a:r>
              <a:rPr lang="en-US" sz="1500" b="1" dirty="0">
                <a:solidFill>
                  <a:schemeClr val="tx2"/>
                </a:solidFill>
              </a:rPr>
              <a:t>Application validation</a:t>
            </a:r>
            <a:endParaRPr lang="en-US" sz="1500" dirty="0"/>
          </a:p>
          <a:p>
            <a:pPr indent="0" marL="0">
              <a:buNone/>
            </a:pPr>
            <a:r>
              <a:rPr lang="en-US" sz="1200" dirty="0">
                <a:solidFill>
                  <a:schemeClr val="tx1"/>
                </a:solidFill>
              </a:rPr>
              <a:t>Short description, negative quantity, bad rating</a:t>
            </a:r>
            <a:endParaRPr lang="en-US" sz="1500" dirty="0"/>
          </a:p>
        </p:txBody>
      </p:sp>
      <p:sp>
        <p:nvSpPr>
          <p:cNvPr id="14" name="card"/>
          <p:cNvSpPr/>
          <p:nvPr/>
        </p:nvSpPr>
        <p:spPr>
          <a:xfrm>
            <a:off x="3383280" y="3246120"/>
            <a:ext cx="5303520" cy="914400"/>
          </a:xfrm>
          <a:prstGeom prst="roundRect">
            <a:avLst>
              <a:gd name="adj" fmla="val 8000"/>
            </a:avLst>
          </a:prstGeom>
          <a:solidFill>
            <a:srgbClr val="F3F5F7"/>
          </a:solidFill>
          <a:ln w="9525">
            <a:solidFill>
              <a:srgbClr val="DFE5EA"/>
            </a:solidFill>
            <a:prstDash val="solid"/>
          </a:ln>
        </p:spPr>
      </p:sp>
      <p:sp>
        <p:nvSpPr>
          <p:cNvPr id="15" name="badge"/>
          <p:cNvSpPr/>
          <p:nvPr/>
        </p:nvSpPr>
        <p:spPr>
          <a:xfrm>
            <a:off x="3566160" y="3474720"/>
            <a:ext cx="457200" cy="457200"/>
          </a:xfrm>
          <a:prstGeom prst="ellipse">
            <a:avLst/>
          </a:prstGeom>
          <a:solidFill>
            <a:srgbClr val="16697A"/>
          </a:solidFill>
          <a:ln w="12700">
            <a:solidFill>
              <a:srgbClr val="16697A"/>
            </a:solidFill>
            <a:prstDash val="solid"/>
          </a:ln>
        </p:spPr>
      </p:sp>
      <p:sp>
        <p:nvSpPr>
          <p:cNvPr id="16" name="Text 13"/>
          <p:cNvSpPr txBox="1"/>
          <p:nvPr/>
        </p:nvSpPr>
        <p:spPr>
          <a:xfrm>
            <a:off x="3566160" y="34747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7" name="Text 14"/>
          <p:cNvSpPr txBox="1"/>
          <p:nvPr/>
        </p:nvSpPr>
        <p:spPr>
          <a:xfrm>
            <a:off x="4206240" y="3246120"/>
            <a:ext cx="4389120" cy="914400"/>
          </a:xfrm>
          <a:prstGeom prst="rect">
            <a:avLst/>
          </a:prstGeom>
          <a:noFill/>
          <a:ln/>
        </p:spPr>
        <p:txBody>
          <a:bodyPr wrap="square" lIns="0" tIns="0" rIns="0" bIns="0" rtlCol="0" anchor="ctr"/>
          <a:lstStyle/>
          <a:p>
            <a:pPr indent="0" marL="0">
              <a:buNone/>
            </a:pPr>
            <a:r>
              <a:rPr lang="en-US" sz="1500" b="1" dirty="0">
                <a:solidFill>
                  <a:schemeClr val="tx2"/>
                </a:solidFill>
              </a:rPr>
              <a:t>Normal operations</a:t>
            </a:r>
            <a:endParaRPr lang="en-US" sz="1500" dirty="0"/>
          </a:p>
          <a:p>
            <a:pPr indent="0" marL="0">
              <a:buNone/>
            </a:pPr>
            <a:r>
              <a:rPr lang="en-US" sz="1200" dirty="0">
                <a:solidFill>
                  <a:schemeClr val="tx1"/>
                </a:solidFill>
              </a:rPr>
              <a:t>Create, assign, close, issue material, search, cancel, reports</a:t>
            </a:r>
            <a:endParaRPr lang="en-US" sz="1500" dirty="0"/>
          </a:p>
        </p:txBody>
      </p:sp>
      <p:sp>
        <p:nvSpPr>
          <p:cNvPr id="18" name="Text 15"/>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400" dirty="0">
                <a:solidFill>
                  <a:srgbClr val="64727F"/>
                </a:solidFill>
              </a:rPr>
              <a:t>Totals in the cost report equal request-wise totals (consistency check).</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27F"/>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ph idx="100" type="title" hasCustomPrompt="1"/>
          </p:nvPr>
        </p:nvSpPr>
        <p:spPr>
          <a:xfrm>
            <a:off x="640080" y="1371600"/>
            <a:ext cx="7863840" cy="1463040"/>
          </a:xfrm>
          <a:prstGeom prst="rect">
            <a:avLst/>
          </a:prstGeom>
          <a:noFill/>
          <a:ln/>
        </p:spPr>
        <p:txBody>
          <a:bodyPr wrap="square" rtlCol="0" anchor="b"/>
          <a:lstStyle/>
          <a:p>
            <a:pPr algn="l" indent="0" marL="0">
              <a:buNone/>
            </a:pPr>
            <a:r>
              <a:rPr lang="en-US" sz="3800" b="1" dirty="0">
                <a:solidFill>
                  <a:schemeClr val="bg1"/>
                </a:solidFill>
              </a:rPr>
              <a:t>A measurable, auditable maintenance workflow</a:t>
            </a:r>
            <a:endParaRPr lang="en-US" sz="3800" dirty="0"/>
          </a:p>
        </p:txBody>
      </p:sp>
      <p:sp>
        <p:nvSpPr>
          <p:cNvPr id="3" name="Text 0"/>
          <p:cNvSpPr txBox="1"/>
          <p:nvPr>
            <p:ph idx="101" type="body" hasCustomPrompt="1"/>
          </p:nvPr>
        </p:nvSpPr>
        <p:spPr>
          <a:xfrm>
            <a:off x="640080" y="3017520"/>
            <a:ext cx="7863840" cy="914400"/>
          </a:xfrm>
          <a:prstGeom prst="rect">
            <a:avLst/>
          </a:prstGeom>
          <a:noFill/>
          <a:ln/>
        </p:spPr>
        <p:txBody>
          <a:bodyPr wrap="square" rtlCol="0" anchor="t"/>
          <a:lstStyle/>
          <a:p>
            <a:pPr algn="l" indent="0" marL="0">
              <a:buNone/>
            </a:pPr>
            <a:r>
              <a:rPr lang="en-US" sz="1600" dirty="0">
                <a:solidFill>
                  <a:srgbClr val="CFE3E8"/>
                </a:solidFill>
              </a:rPr>
              <a:t>16 tables in 3NF  •  12 triggers  •  8 views  •  19/19 tests</a:t>
            </a:r>
            <a:endParaRPr lang="en-US" sz="1600" dirty="0"/>
          </a:p>
          <a:p>
            <a:pPr algn="l" indent="0" marL="0">
              <a:buNone/>
            </a:pPr>
            <a:r>
              <a:rPr lang="en-US" sz="1600" dirty="0">
                <a:solidFill>
                  <a:srgbClr val="CFE3E8"/>
                </a:solidFill>
              </a:rPr>
              <a:t>Next: login and roles, notifications, MySQL/PostgreSQL port, mobile UI</a:t>
            </a:r>
            <a:endParaRPr lang="en-US" sz="1600" dirty="0"/>
          </a:p>
        </p:txBody>
      </p:sp>
      <p:sp>
        <p:nvSpPr>
          <p:cNvPr id="4" name="Text 2"/>
          <p:cNvSpPr txBox="1"/>
          <p:nvPr/>
        </p:nvSpPr>
        <p:spPr>
          <a:xfrm>
            <a:off x="640080" y="4114800"/>
            <a:ext cx="7863840" cy="457200"/>
          </a:xfrm>
          <a:prstGeom prst="rect">
            <a:avLst/>
          </a:prstGeom>
          <a:noFill/>
          <a:ln/>
        </p:spPr>
        <p:txBody>
          <a:bodyPr wrap="square" lIns="0" tIns="0" rIns="0" bIns="0" rtlCol="0" anchor="ctr"/>
          <a:lstStyle/>
          <a:p>
            <a:pPr indent="0" marL="0">
              <a:buNone/>
            </a:pPr>
            <a:r>
              <a:rPr lang="en-US" sz="2000" b="1" dirty="0">
                <a:solidFill>
                  <a:srgbClr val="F2A56B"/>
                </a:solidFill>
              </a:rPr>
              <a:t>Thank you – Questions?</a:t>
            </a:r>
            <a:endParaRPr lang="en-US" sz="2000" dirty="0"/>
          </a:p>
        </p:txBody>
      </p:sp>
    </p:spTree>
  </p:cSld>
  <p:clrMapOvr>
    <a:masterClrMapping/>
  </p:clrMapOvr>
</p:sld>
</file>

<file path=ppt/theme/theme1.xml><?xml version="1.0" encoding="utf-8"?>
<a:theme xmlns:a="http://schemas.openxmlformats.org/drawingml/2006/main" name="Campus FMS">
  <a:themeElements>
    <a:clrScheme name="Campus FMS">
      <a:dk1>
        <a:srgbClr val="17222B"/>
      </a:dk1>
      <a:lt1>
        <a:srgbClr val="FFFFFF"/>
      </a:lt1>
      <a:dk2>
        <a:srgbClr val="0F4C5C"/>
      </a:dk2>
      <a:lt2>
        <a:srgbClr val="F3F5F7"/>
      </a:lt2>
      <a:accent1>
        <a:srgbClr val="0F4C5C"/>
      </a:accent1>
      <a:accent2>
        <a:srgbClr val="16697A"/>
      </a:accent2>
      <a:accent3>
        <a:srgbClr val="E36414"/>
      </a:accent3>
      <a:accent4>
        <a:srgbClr val="C9A227"/>
      </a:accent4>
      <a:accent5>
        <a:srgbClr val="2B8A5A"/>
      </a:accent5>
      <a:accent6>
        <a:srgbClr val="7B4BA6"/>
      </a:accent6>
      <a:hlink>
        <a:srgbClr val="16697A"/>
      </a:hlink>
      <a:folHlink>
        <a:srgbClr val="5C6B77"/>
      </a:folHlink>
    </a:clrScheme>
    <a:fontScheme name="Campus F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DBMS PBL - Campus Facility Maintenance Request Management System</dc:title>
  <dc:subject>PptxGenJS Presentation</dc:subject>
  <dc:creator>PptxGenJS</dc:creator>
  <cp:lastModifiedBy>PptxGenJS</cp:lastModifiedBy>
  <cp:revision>1</cp:revision>
  <dcterms:created xsi:type="dcterms:W3CDTF">2026-10-13T08:23:34Z</dcterms:created>
  <dcterms:modified xsi:type="dcterms:W3CDTF">2026-10-13T08:23:34Z</dcterms:modified>
</cp:coreProperties>
</file>